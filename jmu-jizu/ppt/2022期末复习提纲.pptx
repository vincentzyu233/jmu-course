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1"/>
  </p:sldMasterIdLst>
  <p:sldIdLst>
    <p:sldId id="256" r:id="rId2"/>
    <p:sldId id="289" r:id="rId3"/>
    <p:sldId id="259" r:id="rId4"/>
    <p:sldId id="290" r:id="rId5"/>
    <p:sldId id="261" r:id="rId6"/>
    <p:sldId id="262" r:id="rId7"/>
    <p:sldId id="263" r:id="rId8"/>
    <p:sldId id="260"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6" d="100"/>
          <a:sy n="66" d="100"/>
        </p:scale>
        <p:origin x="644"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3775336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36212093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158698826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248637106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25764993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6081268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14545565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4716321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1491875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10319260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15647944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4CC606-4D8D-420F-A05F-A61B42FC92EB}" type="datetimeFigureOut">
              <a:rPr lang="zh-CN" altLang="en-US" smtClean="0"/>
              <a:t>2023/4/29</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CCAD454-C105-4D01-B93B-7E734670AB27}" type="slidenum">
              <a:rPr lang="zh-CN" altLang="en-US" smtClean="0"/>
              <a:t>‹#›</a:t>
            </a:fld>
            <a:endParaRPr lang="zh-CN" altLang="en-US"/>
          </a:p>
        </p:txBody>
      </p:sp>
    </p:spTree>
    <p:extLst>
      <p:ext uri="{BB962C8B-B14F-4D97-AF65-F5344CB8AC3E}">
        <p14:creationId xmlns:p14="http://schemas.microsoft.com/office/powerpoint/2010/main" val="22409030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zh-CN" altLang="en-US" dirty="0" smtClean="0"/>
              <a:t>计算机期末复习提纲</a:t>
            </a:r>
            <a:endParaRPr lang="zh-CN" altLang="en-US" dirty="0"/>
          </a:p>
        </p:txBody>
      </p:sp>
      <p:sp>
        <p:nvSpPr>
          <p:cNvPr id="3" name="副标题 2"/>
          <p:cNvSpPr>
            <a:spLocks noGrp="1"/>
          </p:cNvSpPr>
          <p:nvPr>
            <p:ph type="subTitle" idx="1"/>
          </p:nvPr>
        </p:nvSpPr>
        <p:spPr/>
        <p:txBody>
          <a:bodyPr/>
          <a:lstStyle/>
          <a:p>
            <a:r>
              <a:rPr lang="zh-CN" altLang="en-US" dirty="0" smtClean="0"/>
              <a:t>本提纲列出所有本课程复习要点，请将书本对应页码内容熟练掌握</a:t>
            </a:r>
            <a:endParaRPr lang="zh-CN" altLang="en-US" dirty="0"/>
          </a:p>
        </p:txBody>
      </p:sp>
    </p:spTree>
    <p:extLst>
      <p:ext uri="{BB962C8B-B14F-4D97-AF65-F5344CB8AC3E}">
        <p14:creationId xmlns:p14="http://schemas.microsoft.com/office/powerpoint/2010/main" val="4170989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第一章</a:t>
            </a:r>
            <a:endParaRPr lang="zh-CN" altLang="en-US" dirty="0"/>
          </a:p>
        </p:txBody>
      </p:sp>
      <p:sp>
        <p:nvSpPr>
          <p:cNvPr id="3" name="内容占位符 2"/>
          <p:cNvSpPr>
            <a:spLocks noGrp="1"/>
          </p:cNvSpPr>
          <p:nvPr>
            <p:ph idx="1"/>
          </p:nvPr>
        </p:nvSpPr>
        <p:spPr/>
        <p:txBody>
          <a:bodyPr>
            <a:normAutofit fontScale="92500" lnSpcReduction="20000"/>
          </a:bodyPr>
          <a:lstStyle/>
          <a:p>
            <a:r>
              <a:rPr lang="en-US" altLang="zh-CN" dirty="0" smtClean="0">
                <a:solidFill>
                  <a:srgbClr val="FF0000"/>
                </a:solidFill>
              </a:rPr>
              <a:t>1.1 </a:t>
            </a:r>
            <a:r>
              <a:rPr lang="zh-CN" altLang="en-US" dirty="0" smtClean="0">
                <a:solidFill>
                  <a:srgbClr val="FF0000"/>
                </a:solidFill>
              </a:rPr>
              <a:t>冯诺依曼体系三大要点：二进制，存储程序，五大部件 </a:t>
            </a:r>
            <a:r>
              <a:rPr lang="en-US" altLang="zh-CN" dirty="0" smtClean="0">
                <a:solidFill>
                  <a:srgbClr val="FF0000"/>
                </a:solidFill>
              </a:rPr>
              <a:t>P2</a:t>
            </a:r>
          </a:p>
          <a:p>
            <a:r>
              <a:rPr lang="en-US" altLang="zh-CN" dirty="0" smtClean="0">
                <a:solidFill>
                  <a:srgbClr val="FF0000"/>
                </a:solidFill>
              </a:rPr>
              <a:t>1.1.1 </a:t>
            </a:r>
            <a:r>
              <a:rPr lang="zh-CN" altLang="en-US" dirty="0" smtClean="0">
                <a:solidFill>
                  <a:srgbClr val="FF0000"/>
                </a:solidFill>
              </a:rPr>
              <a:t>存储程序工作方式三点含义 </a:t>
            </a:r>
            <a:r>
              <a:rPr lang="en-US" altLang="zh-CN" dirty="0" smtClean="0">
                <a:solidFill>
                  <a:srgbClr val="FF0000"/>
                </a:solidFill>
              </a:rPr>
              <a:t>P3</a:t>
            </a:r>
          </a:p>
          <a:p>
            <a:r>
              <a:rPr lang="en-US" altLang="zh-CN" dirty="0" smtClean="0">
                <a:solidFill>
                  <a:srgbClr val="FF0000"/>
                </a:solidFill>
              </a:rPr>
              <a:t>1.2.1 1 CPU</a:t>
            </a:r>
            <a:r>
              <a:rPr lang="zh-CN" altLang="en-US" dirty="0" smtClean="0">
                <a:solidFill>
                  <a:srgbClr val="FF0000"/>
                </a:solidFill>
              </a:rPr>
              <a:t>区分数据和指令，指令的连续执行基本方式，</a:t>
            </a:r>
            <a:r>
              <a:rPr lang="en-US" altLang="zh-CN" dirty="0" smtClean="0"/>
              <a:t>ALU </a:t>
            </a:r>
            <a:r>
              <a:rPr lang="zh-CN" altLang="en-US" dirty="0" smtClean="0"/>
              <a:t>，两大类控制器 </a:t>
            </a:r>
            <a:r>
              <a:rPr lang="en-US" altLang="zh-CN" dirty="0" smtClean="0"/>
              <a:t>P6-7</a:t>
            </a:r>
          </a:p>
          <a:p>
            <a:r>
              <a:rPr lang="en-US" altLang="zh-CN" dirty="0" smtClean="0"/>
              <a:t>1.2.1 2 </a:t>
            </a:r>
            <a:r>
              <a:rPr lang="zh-CN" altLang="en-US" dirty="0" smtClean="0"/>
              <a:t>主存储器（内存）的单元组成与地址 </a:t>
            </a:r>
            <a:r>
              <a:rPr lang="en-US" altLang="zh-CN" dirty="0" smtClean="0"/>
              <a:t>P7</a:t>
            </a:r>
          </a:p>
          <a:p>
            <a:r>
              <a:rPr lang="en-US" altLang="zh-CN" dirty="0" smtClean="0"/>
              <a:t>1.2.1 5 </a:t>
            </a:r>
            <a:r>
              <a:rPr lang="zh-CN" altLang="en-US" dirty="0" smtClean="0">
                <a:solidFill>
                  <a:srgbClr val="FF0000"/>
                </a:solidFill>
              </a:rPr>
              <a:t>总线的三大类型 </a:t>
            </a:r>
            <a:r>
              <a:rPr lang="en-US" altLang="zh-CN" dirty="0" smtClean="0">
                <a:solidFill>
                  <a:srgbClr val="FF0000"/>
                </a:solidFill>
              </a:rPr>
              <a:t>P8</a:t>
            </a:r>
          </a:p>
          <a:p>
            <a:r>
              <a:rPr lang="en-US" altLang="zh-CN" dirty="0" smtClean="0"/>
              <a:t>1.2.2 1(2) </a:t>
            </a:r>
            <a:r>
              <a:rPr lang="zh-CN" altLang="en-US" dirty="0" smtClean="0">
                <a:solidFill>
                  <a:srgbClr val="FF0000"/>
                </a:solidFill>
              </a:rPr>
              <a:t>语言处理的两种类型：解释与编译，具体含义，区别 </a:t>
            </a:r>
            <a:r>
              <a:rPr lang="en-US" altLang="zh-CN" dirty="0" smtClean="0">
                <a:solidFill>
                  <a:srgbClr val="FF0000"/>
                </a:solidFill>
              </a:rPr>
              <a:t>P10-11</a:t>
            </a:r>
          </a:p>
          <a:p>
            <a:r>
              <a:rPr lang="en-US" altLang="zh-CN" dirty="0" smtClean="0"/>
              <a:t>1.3.2</a:t>
            </a:r>
            <a:r>
              <a:rPr lang="zh-CN" altLang="en-US" dirty="0" smtClean="0">
                <a:solidFill>
                  <a:srgbClr val="FF0000"/>
                </a:solidFill>
              </a:rPr>
              <a:t>虚拟机的概念</a:t>
            </a:r>
            <a:r>
              <a:rPr lang="zh-CN" altLang="en-US" dirty="0" smtClean="0"/>
              <a:t>，</a:t>
            </a:r>
            <a:r>
              <a:rPr lang="en-US" altLang="zh-CN" dirty="0" smtClean="0"/>
              <a:t>JVM</a:t>
            </a:r>
            <a:r>
              <a:rPr lang="zh-CN" altLang="en-US" dirty="0" smtClean="0"/>
              <a:t>虚拟机工作原理与其意义 </a:t>
            </a:r>
            <a:r>
              <a:rPr lang="en-US" altLang="zh-CN" dirty="0" smtClean="0"/>
              <a:t>P15</a:t>
            </a:r>
          </a:p>
          <a:p>
            <a:r>
              <a:rPr lang="en-US" altLang="zh-CN" dirty="0" smtClean="0"/>
              <a:t>1.3.3 </a:t>
            </a:r>
            <a:r>
              <a:rPr lang="zh-CN" altLang="en-US" dirty="0" smtClean="0">
                <a:solidFill>
                  <a:srgbClr val="FF0000"/>
                </a:solidFill>
              </a:rPr>
              <a:t>软硬件逻辑等价的意义 </a:t>
            </a:r>
            <a:r>
              <a:rPr lang="en-US" altLang="zh-CN" dirty="0" smtClean="0">
                <a:solidFill>
                  <a:srgbClr val="FF0000"/>
                </a:solidFill>
              </a:rPr>
              <a:t>P15</a:t>
            </a:r>
          </a:p>
          <a:p>
            <a:r>
              <a:rPr lang="en-US" altLang="zh-CN" dirty="0" smtClean="0"/>
              <a:t>1.4.2 </a:t>
            </a:r>
            <a:r>
              <a:rPr lang="zh-CN" altLang="en-US" dirty="0" smtClean="0">
                <a:solidFill>
                  <a:srgbClr val="FF0000"/>
                </a:solidFill>
              </a:rPr>
              <a:t>指令执行过程 </a:t>
            </a:r>
            <a:r>
              <a:rPr lang="en-US" altLang="zh-CN" dirty="0" smtClean="0">
                <a:solidFill>
                  <a:srgbClr val="FF0000"/>
                </a:solidFill>
              </a:rPr>
              <a:t>P17-18</a:t>
            </a:r>
          </a:p>
          <a:p>
            <a:r>
              <a:rPr lang="en-US" altLang="zh-CN" dirty="0" smtClean="0"/>
              <a:t>1.5.2 4 </a:t>
            </a:r>
            <a:r>
              <a:rPr lang="zh-CN" altLang="en-US" dirty="0" smtClean="0"/>
              <a:t>主存储器容量表示方法 </a:t>
            </a:r>
            <a:r>
              <a:rPr lang="en-US" altLang="zh-CN" dirty="0" smtClean="0"/>
              <a:t>P20</a:t>
            </a:r>
          </a:p>
          <a:p>
            <a:endParaRPr lang="en-US" altLang="zh-CN" dirty="0" smtClean="0"/>
          </a:p>
          <a:p>
            <a:endParaRPr lang="zh-CN" altLang="en-US" dirty="0"/>
          </a:p>
        </p:txBody>
      </p:sp>
    </p:spTree>
    <p:extLst>
      <p:ext uri="{BB962C8B-B14F-4D97-AF65-F5344CB8AC3E}">
        <p14:creationId xmlns:p14="http://schemas.microsoft.com/office/powerpoint/2010/main" val="28484490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第一章需要与后面章节联系的点</a:t>
            </a:r>
            <a:endParaRPr lang="zh-CN" altLang="en-US" dirty="0"/>
          </a:p>
        </p:txBody>
      </p:sp>
      <p:sp>
        <p:nvSpPr>
          <p:cNvPr id="3" name="内容占位符 2"/>
          <p:cNvSpPr>
            <a:spLocks noGrp="1"/>
          </p:cNvSpPr>
          <p:nvPr>
            <p:ph idx="1"/>
          </p:nvPr>
        </p:nvSpPr>
        <p:spPr/>
        <p:txBody>
          <a:bodyPr/>
          <a:lstStyle/>
          <a:p>
            <a:r>
              <a:rPr lang="zh-CN" altLang="en-US" dirty="0" smtClean="0"/>
              <a:t>内存储器单元组成与地址，这部分内容直接关联到后面的寻址和汇编语言部分数据段的表示与变量的存储。</a:t>
            </a:r>
            <a:endParaRPr lang="en-US" altLang="zh-CN" dirty="0" smtClean="0"/>
          </a:p>
          <a:p>
            <a:r>
              <a:rPr lang="en-US" altLang="zh-CN" dirty="0" smtClean="0"/>
              <a:t>CPU</a:t>
            </a:r>
            <a:r>
              <a:rPr lang="zh-CN" altLang="en-US" dirty="0" smtClean="0"/>
              <a:t>与总线均起到了区分二进制数据类型的作用</a:t>
            </a:r>
            <a:endParaRPr lang="en-US" altLang="zh-CN" dirty="0" smtClean="0"/>
          </a:p>
          <a:p>
            <a:r>
              <a:rPr lang="zh-CN" altLang="en-US" dirty="0" smtClean="0"/>
              <a:t>指令执行过程取指令、读取操作数与后继指令地址部分，注意与后续汇编语言的</a:t>
            </a:r>
            <a:r>
              <a:rPr lang="en-US" altLang="zh-CN" dirty="0" smtClean="0"/>
              <a:t>CS</a:t>
            </a:r>
            <a:r>
              <a:rPr lang="zh-CN" altLang="en-US" dirty="0" smtClean="0"/>
              <a:t>，</a:t>
            </a:r>
            <a:r>
              <a:rPr lang="en-US" altLang="zh-CN" dirty="0" smtClean="0"/>
              <a:t>IP</a:t>
            </a:r>
            <a:r>
              <a:rPr lang="zh-CN" altLang="en-US" dirty="0" smtClean="0"/>
              <a:t>的工作原理以及数据寻址方式联系起来。</a:t>
            </a:r>
            <a:endParaRPr lang="zh-CN" altLang="en-US" dirty="0"/>
          </a:p>
        </p:txBody>
      </p:sp>
    </p:spTree>
    <p:extLst>
      <p:ext uri="{BB962C8B-B14F-4D97-AF65-F5344CB8AC3E}">
        <p14:creationId xmlns:p14="http://schemas.microsoft.com/office/powerpoint/2010/main" val="17272618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第二章</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a:solidFill>
                  <a:srgbClr val="FF0000"/>
                </a:solidFill>
              </a:rPr>
              <a:t>原</a:t>
            </a:r>
            <a:r>
              <a:rPr lang="zh-CN" altLang="en-US" dirty="0" smtClean="0">
                <a:solidFill>
                  <a:srgbClr val="FF0000"/>
                </a:solidFill>
              </a:rPr>
              <a:t>码表示法，只考虑整数 </a:t>
            </a:r>
            <a:r>
              <a:rPr lang="en-US" altLang="zh-CN" dirty="0" smtClean="0">
                <a:solidFill>
                  <a:srgbClr val="FF0000"/>
                </a:solidFill>
              </a:rPr>
              <a:t>P28</a:t>
            </a:r>
          </a:p>
          <a:p>
            <a:r>
              <a:rPr lang="zh-CN" altLang="en-US" dirty="0" smtClean="0">
                <a:solidFill>
                  <a:srgbClr val="FF0000"/>
                </a:solidFill>
              </a:rPr>
              <a:t>补码表示法，只考虑整数 </a:t>
            </a:r>
            <a:r>
              <a:rPr lang="en-US" altLang="zh-CN" dirty="0" smtClean="0">
                <a:solidFill>
                  <a:srgbClr val="FF0000"/>
                </a:solidFill>
              </a:rPr>
              <a:t>,</a:t>
            </a:r>
            <a:r>
              <a:rPr lang="zh-CN" altLang="en-US" dirty="0" smtClean="0">
                <a:solidFill>
                  <a:srgbClr val="FF0000"/>
                </a:solidFill>
              </a:rPr>
              <a:t>注意补码最高符号位的意义，掌握补码不同位数能够表达的数值范围计算方法 </a:t>
            </a:r>
            <a:r>
              <a:rPr lang="en-US" altLang="zh-CN" dirty="0" smtClean="0">
                <a:solidFill>
                  <a:srgbClr val="FF0000"/>
                </a:solidFill>
              </a:rPr>
              <a:t>P32 </a:t>
            </a:r>
            <a:r>
              <a:rPr lang="zh-CN" altLang="en-US" dirty="0" smtClean="0">
                <a:solidFill>
                  <a:srgbClr val="FF0000"/>
                </a:solidFill>
              </a:rPr>
              <a:t>图</a:t>
            </a:r>
            <a:r>
              <a:rPr lang="en-US" altLang="zh-CN" dirty="0" smtClean="0">
                <a:solidFill>
                  <a:srgbClr val="FF0000"/>
                </a:solidFill>
              </a:rPr>
              <a:t>2-2</a:t>
            </a:r>
          </a:p>
          <a:p>
            <a:r>
              <a:rPr lang="en-US" altLang="zh-CN" dirty="0" smtClean="0"/>
              <a:t>IEEE</a:t>
            </a:r>
            <a:r>
              <a:rPr lang="zh-CN" altLang="en-US" dirty="0" smtClean="0">
                <a:solidFill>
                  <a:srgbClr val="FF0000"/>
                </a:solidFill>
              </a:rPr>
              <a:t>浮点数</a:t>
            </a:r>
            <a:r>
              <a:rPr lang="zh-CN" altLang="en-US" dirty="0" smtClean="0"/>
              <a:t>的定义格式 </a:t>
            </a:r>
            <a:r>
              <a:rPr lang="en-US" altLang="zh-CN" dirty="0" smtClean="0"/>
              <a:t>P38 </a:t>
            </a:r>
            <a:r>
              <a:rPr lang="zh-CN" altLang="en-US" dirty="0" smtClean="0"/>
              <a:t>图</a:t>
            </a:r>
            <a:r>
              <a:rPr lang="en-US" altLang="zh-CN" dirty="0" smtClean="0"/>
              <a:t>2-10</a:t>
            </a:r>
            <a:r>
              <a:rPr lang="zh-CN" altLang="en-US" dirty="0" smtClean="0"/>
              <a:t>及其解释，</a:t>
            </a:r>
            <a:r>
              <a:rPr lang="zh-CN" altLang="en-US" dirty="0" smtClean="0">
                <a:solidFill>
                  <a:srgbClr val="FF0000"/>
                </a:solidFill>
              </a:rPr>
              <a:t>公式（</a:t>
            </a:r>
            <a:r>
              <a:rPr lang="en-US" altLang="zh-CN" dirty="0" smtClean="0">
                <a:solidFill>
                  <a:srgbClr val="FF0000"/>
                </a:solidFill>
              </a:rPr>
              <a:t>2-10</a:t>
            </a:r>
            <a:r>
              <a:rPr lang="zh-CN" altLang="en-US" dirty="0" smtClean="0">
                <a:solidFill>
                  <a:srgbClr val="FF0000"/>
                </a:solidFill>
              </a:rPr>
              <a:t>），</a:t>
            </a:r>
            <a:r>
              <a:rPr lang="zh-CN" altLang="en-US" dirty="0" smtClean="0"/>
              <a:t>注意</a:t>
            </a:r>
            <a:r>
              <a:rPr lang="zh-CN" altLang="en-US" dirty="0" smtClean="0">
                <a:solidFill>
                  <a:srgbClr val="FF0000"/>
                </a:solidFill>
              </a:rPr>
              <a:t>数符、阶码与尾数的意义</a:t>
            </a:r>
            <a:r>
              <a:rPr lang="zh-CN" altLang="en-US" dirty="0" smtClean="0"/>
              <a:t>。注意二进制小数转为浮点数的方法（例</a:t>
            </a:r>
            <a:r>
              <a:rPr lang="en-US" altLang="zh-CN" dirty="0" smtClean="0"/>
              <a:t>2-20</a:t>
            </a:r>
            <a:r>
              <a:rPr lang="zh-CN" altLang="en-US" dirty="0" smtClean="0"/>
              <a:t>），进而衍生至普通实数转换为浮点数的方法（信息表示与计算方法作业第</a:t>
            </a:r>
            <a:r>
              <a:rPr lang="en-US" altLang="zh-CN" dirty="0" smtClean="0"/>
              <a:t>3</a:t>
            </a:r>
            <a:r>
              <a:rPr lang="zh-CN" altLang="en-US" dirty="0" smtClean="0"/>
              <a:t>题）</a:t>
            </a:r>
            <a:endParaRPr lang="en-US" altLang="zh-CN" dirty="0" smtClean="0"/>
          </a:p>
          <a:p>
            <a:r>
              <a:rPr lang="zh-CN" altLang="en-US" dirty="0" smtClean="0">
                <a:solidFill>
                  <a:srgbClr val="FF0000"/>
                </a:solidFill>
              </a:rPr>
              <a:t>现有字符编码方案</a:t>
            </a:r>
            <a:r>
              <a:rPr lang="zh-CN" altLang="en-US" dirty="0" smtClean="0"/>
              <a:t>，了解已有方案即可，包括字符与汉字 </a:t>
            </a:r>
            <a:r>
              <a:rPr lang="en-US" altLang="zh-CN" dirty="0" smtClean="0"/>
              <a:t>P39-41</a:t>
            </a:r>
          </a:p>
          <a:p>
            <a:r>
              <a:rPr lang="zh-CN" altLang="en-US" dirty="0" smtClean="0">
                <a:solidFill>
                  <a:srgbClr val="FF0000"/>
                </a:solidFill>
              </a:rPr>
              <a:t>基本寻址方式 </a:t>
            </a:r>
            <a:r>
              <a:rPr lang="en-US" altLang="zh-CN" dirty="0" smtClean="0"/>
              <a:t>P47-50</a:t>
            </a:r>
            <a:r>
              <a:rPr lang="en-US" altLang="zh-CN" dirty="0" smtClean="0">
                <a:solidFill>
                  <a:srgbClr val="FF0000"/>
                </a:solidFill>
              </a:rPr>
              <a:t>, 8</a:t>
            </a:r>
            <a:r>
              <a:rPr lang="zh-CN" altLang="en-US" dirty="0" smtClean="0">
                <a:solidFill>
                  <a:srgbClr val="FF0000"/>
                </a:solidFill>
              </a:rPr>
              <a:t>种方式的具体含义都要理解</a:t>
            </a:r>
            <a:r>
              <a:rPr lang="zh-CN" altLang="en-US" dirty="0" smtClean="0"/>
              <a:t>，结合汇编语言。</a:t>
            </a:r>
            <a:endParaRPr lang="en-US" altLang="zh-CN" dirty="0" smtClean="0"/>
          </a:p>
          <a:p>
            <a:endParaRPr lang="en-US" altLang="zh-CN" dirty="0"/>
          </a:p>
          <a:p>
            <a:endParaRPr lang="zh-CN" altLang="en-US" dirty="0"/>
          </a:p>
        </p:txBody>
      </p:sp>
    </p:spTree>
    <p:extLst>
      <p:ext uri="{BB962C8B-B14F-4D97-AF65-F5344CB8AC3E}">
        <p14:creationId xmlns:p14="http://schemas.microsoft.com/office/powerpoint/2010/main" val="29499006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第二章一些技术细节（看 完 这 些 还 是 要 看 书！）</a:t>
            </a:r>
            <a:endParaRPr lang="zh-CN" altLang="en-US" dirty="0"/>
          </a:p>
        </p:txBody>
      </p:sp>
      <p:sp>
        <p:nvSpPr>
          <p:cNvPr id="3" name="内容占位符 2"/>
          <p:cNvSpPr>
            <a:spLocks noGrp="1"/>
          </p:cNvSpPr>
          <p:nvPr>
            <p:ph idx="1"/>
          </p:nvPr>
        </p:nvSpPr>
        <p:spPr/>
        <p:txBody>
          <a:bodyPr>
            <a:normAutofit lnSpcReduction="10000"/>
          </a:bodyPr>
          <a:lstStyle/>
          <a:p>
            <a:r>
              <a:rPr lang="zh-CN" altLang="en-US" dirty="0" smtClean="0"/>
              <a:t>补码的表示</a:t>
            </a:r>
          </a:p>
          <a:p>
            <a:pPr marL="0" indent="0">
              <a:buNone/>
            </a:pPr>
            <a:r>
              <a:rPr lang="zh-CN" altLang="en-US" dirty="0" smtClean="0"/>
              <a:t>补码只需要这样理解：原码的最高位代表正负号，其他位代表数字，而补码的最高位为</a:t>
            </a:r>
            <a:r>
              <a:rPr lang="en-US" altLang="zh-CN" dirty="0" smtClean="0"/>
              <a:t>1</a:t>
            </a:r>
            <a:r>
              <a:rPr lang="zh-CN" altLang="en-US" dirty="0" smtClean="0"/>
              <a:t>则代表</a:t>
            </a:r>
            <a:r>
              <a:rPr lang="en-US" altLang="zh-CN" dirty="0" smtClean="0"/>
              <a:t>-2^(N-1),N</a:t>
            </a:r>
            <a:r>
              <a:rPr lang="zh-CN" altLang="en-US" dirty="0" smtClean="0"/>
              <a:t>为二进制数位长，如</a:t>
            </a:r>
            <a:r>
              <a:rPr lang="en-US" altLang="zh-CN" dirty="0" smtClean="0"/>
              <a:t>8</a:t>
            </a:r>
            <a:r>
              <a:rPr lang="zh-CN" altLang="en-US" dirty="0" smtClean="0"/>
              <a:t>位二进制数，最高位代表</a:t>
            </a:r>
            <a:r>
              <a:rPr lang="en-US" altLang="zh-CN" dirty="0" smtClean="0"/>
              <a:t>-128</a:t>
            </a:r>
            <a:r>
              <a:rPr lang="zh-CN" altLang="en-US" dirty="0" smtClean="0"/>
              <a:t>，</a:t>
            </a:r>
            <a:r>
              <a:rPr lang="en-US" altLang="zh-CN" dirty="0" smtClean="0"/>
              <a:t>16</a:t>
            </a:r>
            <a:r>
              <a:rPr lang="zh-CN" altLang="en-US" dirty="0" smtClean="0"/>
              <a:t>位二进制数最高位代表</a:t>
            </a:r>
            <a:r>
              <a:rPr lang="en-US" altLang="zh-CN" dirty="0" smtClean="0"/>
              <a:t>-32768</a:t>
            </a:r>
            <a:r>
              <a:rPr lang="zh-CN" altLang="en-US" dirty="0" smtClean="0"/>
              <a:t>，其他位还是代表正数，值为这两者的和。</a:t>
            </a:r>
          </a:p>
          <a:p>
            <a:pPr marL="0" indent="0">
              <a:buNone/>
            </a:pPr>
            <a:r>
              <a:rPr lang="zh-CN" altLang="en-US" dirty="0" smtClean="0"/>
              <a:t>思考题</a:t>
            </a:r>
            <a:r>
              <a:rPr lang="en-US" altLang="zh-CN" dirty="0" smtClean="0"/>
              <a:t>1</a:t>
            </a:r>
            <a:r>
              <a:rPr lang="zh-CN" altLang="en-US" dirty="0" smtClean="0"/>
              <a:t>：补码的</a:t>
            </a:r>
            <a:r>
              <a:rPr lang="en-US" altLang="zh-CN" dirty="0" smtClean="0"/>
              <a:t>10001111</a:t>
            </a:r>
            <a:r>
              <a:rPr lang="zh-CN" altLang="en-US" dirty="0" smtClean="0"/>
              <a:t>和</a:t>
            </a:r>
            <a:r>
              <a:rPr lang="en-US" altLang="zh-CN" dirty="0" smtClean="0"/>
              <a:t>00001111</a:t>
            </a:r>
            <a:r>
              <a:rPr lang="zh-CN" altLang="en-US" dirty="0" smtClean="0"/>
              <a:t>各代表什么值？</a:t>
            </a:r>
          </a:p>
          <a:p>
            <a:pPr>
              <a:buNone/>
            </a:pPr>
            <a:r>
              <a:rPr lang="en-US" altLang="zh-CN" dirty="0" smtClean="0"/>
              <a:t>     10001111 = </a:t>
            </a:r>
            <a:r>
              <a:rPr lang="en-US" altLang="zh-CN" dirty="0" smtClean="0">
                <a:solidFill>
                  <a:srgbClr val="FF0000"/>
                </a:solidFill>
              </a:rPr>
              <a:t>1</a:t>
            </a:r>
            <a:r>
              <a:rPr lang="en-US" altLang="zh-CN" dirty="0" smtClean="0"/>
              <a:t>0000000 + 1111 = -128 + 15 = -113</a:t>
            </a:r>
            <a:endParaRPr lang="zh-CN" altLang="en-US" dirty="0" smtClean="0"/>
          </a:p>
          <a:p>
            <a:pPr>
              <a:buNone/>
            </a:pPr>
            <a:r>
              <a:rPr lang="en-US" altLang="zh-CN" dirty="0" smtClean="0"/>
              <a:t>     00001111 = </a:t>
            </a:r>
            <a:r>
              <a:rPr lang="en-US" altLang="zh-CN" dirty="0" smtClean="0">
                <a:solidFill>
                  <a:srgbClr val="FF0000"/>
                </a:solidFill>
              </a:rPr>
              <a:t>0</a:t>
            </a:r>
            <a:r>
              <a:rPr lang="en-US" altLang="zh-CN" dirty="0" smtClean="0"/>
              <a:t>0000000 + 1111 = 0 +15 = 15</a:t>
            </a:r>
            <a:endParaRPr lang="zh-CN" altLang="en-US" dirty="0" smtClean="0"/>
          </a:p>
          <a:p>
            <a:pPr marL="0" indent="0">
              <a:buNone/>
            </a:pPr>
            <a:r>
              <a:rPr lang="zh-CN" altLang="en-US" dirty="0" smtClean="0"/>
              <a:t>思考题</a:t>
            </a:r>
            <a:r>
              <a:rPr lang="en-US" altLang="zh-CN" dirty="0" smtClean="0"/>
              <a:t>2</a:t>
            </a:r>
            <a:r>
              <a:rPr lang="zh-CN" altLang="en-US" dirty="0" smtClean="0"/>
              <a:t>：字长</a:t>
            </a:r>
            <a:r>
              <a:rPr lang="en-US" altLang="zh-CN" dirty="0" smtClean="0"/>
              <a:t>8</a:t>
            </a:r>
            <a:r>
              <a:rPr lang="zh-CN" altLang="en-US" dirty="0" smtClean="0"/>
              <a:t>位和</a:t>
            </a:r>
            <a:r>
              <a:rPr lang="en-US" altLang="zh-CN" dirty="0" smtClean="0"/>
              <a:t>16</a:t>
            </a:r>
            <a:r>
              <a:rPr lang="zh-CN" altLang="en-US" dirty="0" smtClean="0"/>
              <a:t>位的补码能表示的最大值和最小值是多少？（注意和原码的区别）</a:t>
            </a:r>
          </a:p>
          <a:p>
            <a:endParaRPr lang="zh-CN" altLang="en-US" dirty="0"/>
          </a:p>
        </p:txBody>
      </p:sp>
    </p:spTree>
    <p:extLst>
      <p:ext uri="{BB962C8B-B14F-4D97-AF65-F5344CB8AC3E}">
        <p14:creationId xmlns:p14="http://schemas.microsoft.com/office/powerpoint/2010/main" val="36831425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第二章一些技术细节（看 完 这 些 还 是 要 看 书！）</a:t>
            </a:r>
            <a:endParaRPr lang="zh-CN" altLang="en-US" dirty="0"/>
          </a:p>
        </p:txBody>
      </p:sp>
      <p:sp>
        <p:nvSpPr>
          <p:cNvPr id="3" name="内容占位符 2"/>
          <p:cNvSpPr>
            <a:spLocks noGrp="1"/>
          </p:cNvSpPr>
          <p:nvPr>
            <p:ph idx="1"/>
          </p:nvPr>
        </p:nvSpPr>
        <p:spPr/>
        <p:txBody>
          <a:bodyPr>
            <a:normAutofit fontScale="77500" lnSpcReduction="20000"/>
          </a:bodyPr>
          <a:lstStyle/>
          <a:p>
            <a:r>
              <a:rPr lang="zh-CN" altLang="en-US" dirty="0" smtClean="0"/>
              <a:t>寻址方式</a:t>
            </a:r>
            <a:endParaRPr lang="en-US" altLang="zh-CN" dirty="0" smtClean="0"/>
          </a:p>
          <a:p>
            <a:pPr marL="0" indent="0">
              <a:buNone/>
            </a:pPr>
            <a:r>
              <a:rPr lang="zh-CN" altLang="en-US" dirty="0" smtClean="0"/>
              <a:t>寻址方式的本质：给出指令中所需要的数据所在地址的方法！指令中需要的数据主要以如下三种方法给出：</a:t>
            </a:r>
          </a:p>
          <a:p>
            <a:pPr marL="0" indent="0">
              <a:buNone/>
            </a:pPr>
            <a:r>
              <a:rPr lang="en-US" altLang="zh-CN" dirty="0" smtClean="0"/>
              <a:t>1.</a:t>
            </a:r>
            <a:r>
              <a:rPr lang="zh-CN" altLang="en-US" dirty="0" smtClean="0"/>
              <a:t>直接给：</a:t>
            </a:r>
            <a:r>
              <a:rPr lang="en-US" altLang="zh-CN" dirty="0" smtClean="0"/>
              <a:t>MOV AX</a:t>
            </a:r>
            <a:r>
              <a:rPr lang="en-US" altLang="zh-CN" dirty="0" smtClean="0">
                <a:solidFill>
                  <a:srgbClr val="FF0000"/>
                </a:solidFill>
              </a:rPr>
              <a:t>,1234H</a:t>
            </a:r>
            <a:r>
              <a:rPr lang="zh-CN" altLang="en-US" dirty="0" smtClean="0"/>
              <a:t>，其中</a:t>
            </a:r>
            <a:r>
              <a:rPr lang="en-US" altLang="zh-CN" dirty="0" smtClean="0"/>
              <a:t>1234H</a:t>
            </a:r>
            <a:r>
              <a:rPr lang="zh-CN" altLang="en-US" dirty="0" smtClean="0"/>
              <a:t>这个操作数是直接给的，这就是</a:t>
            </a:r>
            <a:r>
              <a:rPr lang="zh-CN" altLang="en-US" dirty="0" smtClean="0">
                <a:solidFill>
                  <a:srgbClr val="FF0000"/>
                </a:solidFill>
              </a:rPr>
              <a:t>立即寻址</a:t>
            </a:r>
            <a:endParaRPr lang="en-US" altLang="zh-CN" dirty="0" smtClean="0">
              <a:solidFill>
                <a:srgbClr val="FF0000"/>
              </a:solidFill>
            </a:endParaRPr>
          </a:p>
          <a:p>
            <a:pPr marL="0" indent="0">
              <a:buNone/>
            </a:pPr>
            <a:r>
              <a:rPr lang="en-US" altLang="zh-CN" dirty="0" smtClean="0"/>
              <a:t>2.</a:t>
            </a:r>
            <a:r>
              <a:rPr lang="zh-CN" altLang="en-US" dirty="0" smtClean="0"/>
              <a:t>给数据所在寄存器和目标寄存器：</a:t>
            </a:r>
            <a:r>
              <a:rPr lang="en-US" altLang="zh-CN" dirty="0" smtClean="0"/>
              <a:t> MOV </a:t>
            </a:r>
            <a:r>
              <a:rPr lang="en-US" altLang="zh-CN" dirty="0" smtClean="0">
                <a:solidFill>
                  <a:srgbClr val="FF0000"/>
                </a:solidFill>
              </a:rPr>
              <a:t>AX,BX</a:t>
            </a:r>
            <a:r>
              <a:rPr lang="zh-CN" altLang="en-US" dirty="0" smtClean="0"/>
              <a:t>，需要传送的值在</a:t>
            </a:r>
            <a:r>
              <a:rPr lang="en-US" altLang="zh-CN" dirty="0" smtClean="0"/>
              <a:t>BX</a:t>
            </a:r>
            <a:r>
              <a:rPr lang="zh-CN" altLang="en-US" dirty="0" smtClean="0"/>
              <a:t>中，传送目标</a:t>
            </a:r>
            <a:r>
              <a:rPr lang="en-US" altLang="zh-CN" dirty="0" smtClean="0"/>
              <a:t>AX</a:t>
            </a:r>
            <a:r>
              <a:rPr lang="zh-CN" altLang="en-US" dirty="0" smtClean="0"/>
              <a:t>，都 是以寄存器形式给出。这就是</a:t>
            </a:r>
            <a:r>
              <a:rPr lang="zh-CN" altLang="en-US" dirty="0" smtClean="0">
                <a:solidFill>
                  <a:srgbClr val="FF0000"/>
                </a:solidFill>
              </a:rPr>
              <a:t>寄存器寻址。</a:t>
            </a:r>
          </a:p>
          <a:p>
            <a:pPr marL="0" indent="0">
              <a:buNone/>
            </a:pPr>
            <a:r>
              <a:rPr lang="en-US" altLang="zh-CN" dirty="0" smtClean="0"/>
              <a:t>3. </a:t>
            </a:r>
            <a:r>
              <a:rPr lang="zh-CN" altLang="en-US" dirty="0" smtClean="0"/>
              <a:t>给数据所在的内存单元，内存单元地址用</a:t>
            </a:r>
            <a:r>
              <a:rPr lang="en-US" altLang="zh-CN" dirty="0" smtClean="0">
                <a:solidFill>
                  <a:srgbClr val="FF0000"/>
                </a:solidFill>
              </a:rPr>
              <a:t>[</a:t>
            </a:r>
            <a:r>
              <a:rPr lang="zh-CN" altLang="en-US" dirty="0" smtClean="0">
                <a:solidFill>
                  <a:srgbClr val="FF0000"/>
                </a:solidFill>
              </a:rPr>
              <a:t>地址</a:t>
            </a:r>
            <a:r>
              <a:rPr lang="en-US" altLang="zh-CN" dirty="0" smtClean="0">
                <a:solidFill>
                  <a:srgbClr val="FF0000"/>
                </a:solidFill>
              </a:rPr>
              <a:t>]</a:t>
            </a:r>
            <a:r>
              <a:rPr lang="zh-CN" altLang="en-US" dirty="0" smtClean="0"/>
              <a:t>的形式给出，注意，给的都是</a:t>
            </a:r>
            <a:r>
              <a:rPr lang="zh-CN" altLang="en-US" dirty="0" smtClean="0">
                <a:solidFill>
                  <a:srgbClr val="FF0000"/>
                </a:solidFill>
              </a:rPr>
              <a:t>相对于基地址的偏移地址</a:t>
            </a:r>
            <a:r>
              <a:rPr lang="zh-CN" altLang="en-US" dirty="0" smtClean="0"/>
              <a:t>而不是真正的物理地址，即以数据段基地址为</a:t>
            </a:r>
            <a:r>
              <a:rPr lang="zh-CN" altLang="en-US" dirty="0" smtClean="0">
                <a:solidFill>
                  <a:srgbClr val="FF0000"/>
                </a:solidFill>
              </a:rPr>
              <a:t>起始地址</a:t>
            </a:r>
            <a:r>
              <a:rPr lang="en-US" altLang="zh-CN" dirty="0" smtClean="0">
                <a:solidFill>
                  <a:srgbClr val="FF0000"/>
                </a:solidFill>
              </a:rPr>
              <a:t>0</a:t>
            </a:r>
            <a:r>
              <a:rPr lang="zh-CN" altLang="en-US" dirty="0" smtClean="0"/>
              <a:t>的偏移地址！</a:t>
            </a:r>
          </a:p>
          <a:p>
            <a:pPr marL="0" indent="0">
              <a:buNone/>
            </a:pPr>
            <a:r>
              <a:rPr lang="zh-CN" altLang="en-US" dirty="0" smtClean="0"/>
              <a:t>若地址直接</a:t>
            </a:r>
            <a:r>
              <a:rPr lang="zh-CN" altLang="en-US" dirty="0" smtClean="0">
                <a:solidFill>
                  <a:srgbClr val="FF0000"/>
                </a:solidFill>
              </a:rPr>
              <a:t>以</a:t>
            </a:r>
            <a:r>
              <a:rPr lang="en-US" altLang="zh-CN" dirty="0" smtClean="0">
                <a:solidFill>
                  <a:srgbClr val="FF0000"/>
                </a:solidFill>
              </a:rPr>
              <a:t>[</a:t>
            </a:r>
            <a:r>
              <a:rPr lang="zh-CN" altLang="en-US" dirty="0" smtClean="0">
                <a:solidFill>
                  <a:srgbClr val="FF0000"/>
                </a:solidFill>
              </a:rPr>
              <a:t>数字</a:t>
            </a:r>
            <a:r>
              <a:rPr lang="en-US" altLang="zh-CN" dirty="0" smtClean="0">
                <a:solidFill>
                  <a:srgbClr val="FF0000"/>
                </a:solidFill>
              </a:rPr>
              <a:t>]</a:t>
            </a:r>
            <a:r>
              <a:rPr lang="zh-CN" altLang="en-US" dirty="0" smtClean="0">
                <a:solidFill>
                  <a:srgbClr val="FF0000"/>
                </a:solidFill>
              </a:rPr>
              <a:t>形式</a:t>
            </a:r>
            <a:r>
              <a:rPr lang="zh-CN" altLang="en-US" dirty="0" smtClean="0"/>
              <a:t>给出，是</a:t>
            </a:r>
            <a:r>
              <a:rPr lang="zh-CN" altLang="en-US" dirty="0" smtClean="0">
                <a:solidFill>
                  <a:srgbClr val="FF0000"/>
                </a:solidFill>
              </a:rPr>
              <a:t>直接寻址。</a:t>
            </a:r>
            <a:r>
              <a:rPr lang="zh-CN" altLang="en-US" dirty="0" smtClean="0"/>
              <a:t>例如 </a:t>
            </a:r>
            <a:endParaRPr lang="en-US" altLang="zh-CN" dirty="0" smtClean="0"/>
          </a:p>
          <a:p>
            <a:pPr marL="0" indent="0">
              <a:buNone/>
            </a:pPr>
            <a:r>
              <a:rPr lang="en-US" altLang="zh-CN" dirty="0" smtClean="0"/>
              <a:t>MOV AL</a:t>
            </a:r>
            <a:r>
              <a:rPr lang="en-US" altLang="zh-CN" dirty="0" smtClean="0">
                <a:solidFill>
                  <a:srgbClr val="FF0000"/>
                </a:solidFill>
              </a:rPr>
              <a:t>,[9] </a:t>
            </a:r>
            <a:r>
              <a:rPr lang="zh-CN" altLang="en-US" dirty="0" smtClean="0"/>
              <a:t>将</a:t>
            </a:r>
            <a:r>
              <a:rPr lang="zh-CN" altLang="en-US" dirty="0" smtClean="0">
                <a:solidFill>
                  <a:srgbClr val="FF0000"/>
                </a:solidFill>
              </a:rPr>
              <a:t>数据段</a:t>
            </a:r>
            <a:r>
              <a:rPr lang="zh-CN" altLang="en-US" dirty="0" smtClean="0"/>
              <a:t>第</a:t>
            </a:r>
            <a:r>
              <a:rPr lang="en-US" altLang="zh-CN" dirty="0" smtClean="0">
                <a:solidFill>
                  <a:srgbClr val="FF0000"/>
                </a:solidFill>
              </a:rPr>
              <a:t>10</a:t>
            </a:r>
            <a:r>
              <a:rPr lang="zh-CN" altLang="en-US" dirty="0" smtClean="0"/>
              <a:t>个内存单元内的数据给</a:t>
            </a:r>
            <a:r>
              <a:rPr lang="en-US" altLang="zh-CN" dirty="0" smtClean="0"/>
              <a:t>AL</a:t>
            </a:r>
            <a:endParaRPr lang="zh-CN" altLang="en-US" dirty="0" smtClean="0"/>
          </a:p>
          <a:p>
            <a:pPr marL="0" indent="0">
              <a:buNone/>
            </a:pPr>
            <a:r>
              <a:rPr lang="en-US" altLang="zh-CN" dirty="0" smtClean="0"/>
              <a:t>MOV AX,[</a:t>
            </a:r>
            <a:r>
              <a:rPr lang="en-US" altLang="zh-CN" dirty="0" smtClean="0">
                <a:solidFill>
                  <a:srgbClr val="FF0000"/>
                </a:solidFill>
              </a:rPr>
              <a:t>9</a:t>
            </a:r>
            <a:r>
              <a:rPr lang="en-US" altLang="zh-CN" dirty="0" smtClean="0"/>
              <a:t>] </a:t>
            </a:r>
            <a:r>
              <a:rPr lang="zh-CN" altLang="en-US" dirty="0" smtClean="0"/>
              <a:t>将数据段第</a:t>
            </a:r>
            <a:r>
              <a:rPr lang="en-US" altLang="zh-CN" dirty="0" smtClean="0"/>
              <a:t>11</a:t>
            </a:r>
            <a:r>
              <a:rPr lang="zh-CN" altLang="en-US" dirty="0" smtClean="0"/>
              <a:t>个内存单元的数据作为高</a:t>
            </a:r>
            <a:r>
              <a:rPr lang="en-US" altLang="zh-CN" dirty="0" smtClean="0"/>
              <a:t>8</a:t>
            </a:r>
            <a:r>
              <a:rPr lang="zh-CN" altLang="en-US" dirty="0" smtClean="0"/>
              <a:t>位，第</a:t>
            </a:r>
            <a:r>
              <a:rPr lang="en-US" altLang="zh-CN" dirty="0" smtClean="0"/>
              <a:t>10</a:t>
            </a:r>
            <a:r>
              <a:rPr lang="zh-CN" altLang="en-US" dirty="0" smtClean="0"/>
              <a:t>个内存单元数据作为低</a:t>
            </a:r>
            <a:r>
              <a:rPr lang="en-US" altLang="zh-CN" dirty="0" smtClean="0"/>
              <a:t>8</a:t>
            </a:r>
            <a:r>
              <a:rPr lang="zh-CN" altLang="en-US" dirty="0" smtClean="0"/>
              <a:t>位，给</a:t>
            </a:r>
            <a:r>
              <a:rPr lang="en-US" altLang="zh-CN" dirty="0" smtClean="0"/>
              <a:t>AX</a:t>
            </a:r>
            <a:r>
              <a:rPr lang="zh-CN" altLang="en-US" dirty="0" smtClean="0"/>
              <a:t>（想想为什么是这个操作？关键词：第五章，数据存放高地址高位，低地址低位）</a:t>
            </a:r>
          </a:p>
          <a:p>
            <a:endParaRPr lang="zh-CN" altLang="en-US" dirty="0"/>
          </a:p>
        </p:txBody>
      </p:sp>
    </p:spTree>
    <p:extLst>
      <p:ext uri="{BB962C8B-B14F-4D97-AF65-F5344CB8AC3E}">
        <p14:creationId xmlns:p14="http://schemas.microsoft.com/office/powerpoint/2010/main" val="21493305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第二章一些技术细节（看 完 这 些 还 是 要 看 书！）</a:t>
            </a:r>
            <a:endParaRPr lang="zh-CN" altLang="en-US" dirty="0"/>
          </a:p>
        </p:txBody>
      </p:sp>
      <p:sp>
        <p:nvSpPr>
          <p:cNvPr id="3" name="内容占位符 2"/>
          <p:cNvSpPr>
            <a:spLocks noGrp="1"/>
          </p:cNvSpPr>
          <p:nvPr>
            <p:ph idx="1"/>
          </p:nvPr>
        </p:nvSpPr>
        <p:spPr/>
        <p:txBody>
          <a:bodyPr>
            <a:normAutofit/>
          </a:bodyPr>
          <a:lstStyle/>
          <a:p>
            <a:pPr marL="0" indent="0">
              <a:buNone/>
            </a:pPr>
            <a:r>
              <a:rPr lang="zh-CN" altLang="en-US" dirty="0" smtClean="0"/>
              <a:t>若给出的是操作数</a:t>
            </a:r>
            <a:r>
              <a:rPr lang="zh-CN" altLang="en-US" dirty="0" smtClean="0">
                <a:solidFill>
                  <a:srgbClr val="FF0000"/>
                </a:solidFill>
              </a:rPr>
              <a:t>地址所在的地址</a:t>
            </a:r>
            <a:r>
              <a:rPr lang="zh-CN" altLang="en-US" dirty="0" smtClean="0"/>
              <a:t>，例如</a:t>
            </a:r>
            <a:r>
              <a:rPr lang="en-US" altLang="zh-CN" dirty="0" smtClean="0"/>
              <a:t>[[1000H]],</a:t>
            </a:r>
            <a:r>
              <a:rPr lang="zh-CN" altLang="en-US" dirty="0" smtClean="0"/>
              <a:t>即将</a:t>
            </a:r>
            <a:r>
              <a:rPr lang="en-US" altLang="zh-CN" dirty="0" smtClean="0"/>
              <a:t>1000H</a:t>
            </a:r>
            <a:r>
              <a:rPr lang="zh-CN" altLang="en-US" dirty="0" smtClean="0"/>
              <a:t>中存放的是数据所在地址，称为</a:t>
            </a:r>
            <a:r>
              <a:rPr lang="zh-CN" altLang="en-US" dirty="0" smtClean="0">
                <a:solidFill>
                  <a:srgbClr val="FF0000"/>
                </a:solidFill>
              </a:rPr>
              <a:t>间接寻址</a:t>
            </a:r>
            <a:r>
              <a:rPr lang="zh-CN" altLang="en-US" dirty="0" smtClean="0"/>
              <a:t>。</a:t>
            </a:r>
            <a:endParaRPr lang="en-US" altLang="zh-CN" dirty="0" smtClean="0"/>
          </a:p>
          <a:p>
            <a:pPr marL="0" indent="0">
              <a:buNone/>
            </a:pPr>
            <a:r>
              <a:rPr lang="zh-CN" altLang="en-US" dirty="0" smtClean="0"/>
              <a:t>若以</a:t>
            </a:r>
            <a:r>
              <a:rPr lang="en-US" altLang="zh-CN" dirty="0" smtClean="0"/>
              <a:t>[</a:t>
            </a:r>
            <a:r>
              <a:rPr lang="zh-CN" altLang="en-US" dirty="0" smtClean="0"/>
              <a:t>寄存器名</a:t>
            </a:r>
            <a:r>
              <a:rPr lang="en-US" altLang="zh-CN" dirty="0" smtClean="0"/>
              <a:t>]</a:t>
            </a:r>
            <a:r>
              <a:rPr lang="zh-CN" altLang="en-US" dirty="0" smtClean="0"/>
              <a:t>的形式将寄存器的值作为地址，称为</a:t>
            </a:r>
            <a:r>
              <a:rPr lang="zh-CN" altLang="en-US" dirty="0" smtClean="0">
                <a:solidFill>
                  <a:srgbClr val="FF0000"/>
                </a:solidFill>
              </a:rPr>
              <a:t>寄存器间址</a:t>
            </a:r>
            <a:r>
              <a:rPr lang="zh-CN" altLang="en-US" dirty="0" smtClean="0"/>
              <a:t>。这种表示形式只能用</a:t>
            </a:r>
            <a:r>
              <a:rPr lang="en-US" altLang="zh-CN" dirty="0" smtClean="0"/>
              <a:t>BX,BP,SI,DI</a:t>
            </a:r>
            <a:r>
              <a:rPr lang="zh-CN" altLang="en-US" dirty="0"/>
              <a:t>四</a:t>
            </a:r>
            <a:r>
              <a:rPr lang="zh-CN" altLang="en-US" dirty="0" smtClean="0"/>
              <a:t>个寄存器，使用了</a:t>
            </a:r>
            <a:r>
              <a:rPr lang="en-US" altLang="zh-CN" dirty="0" smtClean="0"/>
              <a:t>BX</a:t>
            </a:r>
            <a:r>
              <a:rPr lang="zh-CN" altLang="en-US" dirty="0" smtClean="0"/>
              <a:t>和</a:t>
            </a:r>
            <a:r>
              <a:rPr lang="en-US" altLang="zh-CN" dirty="0" smtClean="0"/>
              <a:t>BP</a:t>
            </a:r>
            <a:r>
              <a:rPr lang="zh-CN" altLang="en-US" dirty="0" smtClean="0"/>
              <a:t>叫</a:t>
            </a:r>
            <a:r>
              <a:rPr lang="zh-CN" altLang="en-US" dirty="0" smtClean="0">
                <a:solidFill>
                  <a:srgbClr val="FF0000"/>
                </a:solidFill>
              </a:rPr>
              <a:t>基址寻址</a:t>
            </a:r>
            <a:r>
              <a:rPr lang="zh-CN" altLang="en-US" dirty="0" smtClean="0"/>
              <a:t>，使用了</a:t>
            </a:r>
            <a:r>
              <a:rPr lang="en-US" altLang="zh-CN" dirty="0" smtClean="0"/>
              <a:t>SI</a:t>
            </a:r>
            <a:r>
              <a:rPr lang="zh-CN" altLang="en-US" dirty="0" smtClean="0"/>
              <a:t>或</a:t>
            </a:r>
            <a:r>
              <a:rPr lang="en-US" altLang="zh-CN" dirty="0" smtClean="0"/>
              <a:t>DI</a:t>
            </a:r>
            <a:r>
              <a:rPr lang="zh-CN" altLang="en-US" dirty="0" smtClean="0"/>
              <a:t>叫</a:t>
            </a:r>
            <a:r>
              <a:rPr lang="zh-CN" altLang="en-US" dirty="0" smtClean="0">
                <a:solidFill>
                  <a:srgbClr val="FF0000"/>
                </a:solidFill>
              </a:rPr>
              <a:t>变址寻址</a:t>
            </a:r>
            <a:r>
              <a:rPr lang="zh-CN" altLang="en-US" dirty="0" smtClean="0"/>
              <a:t>，若用了</a:t>
            </a:r>
            <a:r>
              <a:rPr lang="en-US" altLang="zh-CN" dirty="0" smtClean="0"/>
              <a:t>[BX</a:t>
            </a:r>
            <a:r>
              <a:rPr lang="zh-CN" altLang="en-US" dirty="0" smtClean="0"/>
              <a:t>或</a:t>
            </a:r>
            <a:r>
              <a:rPr lang="en-US" altLang="zh-CN" dirty="0" smtClean="0"/>
              <a:t>BP+SI</a:t>
            </a:r>
            <a:r>
              <a:rPr lang="zh-CN" altLang="en-US" dirty="0" smtClean="0"/>
              <a:t>或</a:t>
            </a:r>
            <a:r>
              <a:rPr lang="en-US" altLang="zh-CN" dirty="0" smtClean="0"/>
              <a:t>DI]</a:t>
            </a:r>
            <a:r>
              <a:rPr lang="zh-CN" altLang="en-US" dirty="0" smtClean="0"/>
              <a:t>这样的形式，叫</a:t>
            </a:r>
            <a:r>
              <a:rPr lang="zh-CN" altLang="en-US" dirty="0" smtClean="0">
                <a:solidFill>
                  <a:srgbClr val="FF0000"/>
                </a:solidFill>
              </a:rPr>
              <a:t>基址变址寻址。</a:t>
            </a:r>
            <a:r>
              <a:rPr lang="zh-CN" altLang="en-US" dirty="0" smtClean="0"/>
              <a:t>若还加上个数字，如</a:t>
            </a:r>
            <a:r>
              <a:rPr lang="en-US" altLang="zh-CN" dirty="0" smtClean="0"/>
              <a:t>[BX+SI+100]</a:t>
            </a:r>
            <a:r>
              <a:rPr lang="zh-CN" altLang="en-US" dirty="0" smtClean="0"/>
              <a:t>，叫</a:t>
            </a:r>
            <a:r>
              <a:rPr lang="zh-CN" altLang="en-US" dirty="0" smtClean="0">
                <a:solidFill>
                  <a:srgbClr val="FF0000"/>
                </a:solidFill>
              </a:rPr>
              <a:t>相对寻址。</a:t>
            </a:r>
          </a:p>
          <a:p>
            <a:pPr marL="0" indent="0">
              <a:buNone/>
            </a:pPr>
            <a:endParaRPr lang="en-US" altLang="zh-CN" dirty="0" smtClean="0"/>
          </a:p>
        </p:txBody>
      </p:sp>
    </p:spTree>
    <p:extLst>
      <p:ext uri="{BB962C8B-B14F-4D97-AF65-F5344CB8AC3E}">
        <p14:creationId xmlns:p14="http://schemas.microsoft.com/office/powerpoint/2010/main" val="18339680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第三章</a:t>
            </a:r>
            <a:endParaRPr lang="zh-CN" altLang="en-US" dirty="0"/>
          </a:p>
        </p:txBody>
      </p:sp>
      <p:sp>
        <p:nvSpPr>
          <p:cNvPr id="3" name="内容占位符 2"/>
          <p:cNvSpPr>
            <a:spLocks noGrp="1"/>
          </p:cNvSpPr>
          <p:nvPr>
            <p:ph idx="1"/>
          </p:nvPr>
        </p:nvSpPr>
        <p:spPr/>
        <p:txBody>
          <a:bodyPr/>
          <a:lstStyle/>
          <a:p>
            <a:r>
              <a:rPr lang="en-US" altLang="zh-CN" dirty="0" smtClean="0"/>
              <a:t>3.1.1 </a:t>
            </a:r>
            <a:r>
              <a:rPr lang="en-US" altLang="zh-CN" dirty="0" smtClean="0">
                <a:solidFill>
                  <a:srgbClr val="FF0000"/>
                </a:solidFill>
              </a:rPr>
              <a:t>CPU</a:t>
            </a:r>
            <a:r>
              <a:rPr lang="zh-CN" altLang="en-US" dirty="0" smtClean="0">
                <a:solidFill>
                  <a:srgbClr val="FF0000"/>
                </a:solidFill>
              </a:rPr>
              <a:t>各功能组件及其作用 </a:t>
            </a:r>
            <a:r>
              <a:rPr lang="en-US" altLang="zh-CN" dirty="0" smtClean="0">
                <a:solidFill>
                  <a:srgbClr val="FF0000"/>
                </a:solidFill>
              </a:rPr>
              <a:t>P61-62</a:t>
            </a:r>
            <a:r>
              <a:rPr lang="zh-CN" altLang="en-US" dirty="0" smtClean="0"/>
              <a:t>，其中要特别注意</a:t>
            </a:r>
            <a:r>
              <a:rPr lang="en-US" altLang="zh-CN" dirty="0" smtClean="0"/>
              <a:t>PC</a:t>
            </a:r>
            <a:r>
              <a:rPr lang="zh-CN" altLang="en-US" dirty="0" smtClean="0"/>
              <a:t>与</a:t>
            </a:r>
            <a:r>
              <a:rPr lang="en-US" altLang="zh-CN" dirty="0" smtClean="0"/>
              <a:t>PSW</a:t>
            </a:r>
            <a:r>
              <a:rPr lang="zh-CN" altLang="en-US" dirty="0" smtClean="0"/>
              <a:t>。在实际汇编语言面向的</a:t>
            </a:r>
            <a:r>
              <a:rPr lang="en-US" altLang="zh-CN" dirty="0" smtClean="0"/>
              <a:t>CPU</a:t>
            </a:r>
            <a:r>
              <a:rPr lang="zh-CN" altLang="en-US" dirty="0" smtClean="0"/>
              <a:t>中，以寄存器</a:t>
            </a:r>
            <a:r>
              <a:rPr lang="en-US" altLang="zh-CN" dirty="0" smtClean="0"/>
              <a:t>CS</a:t>
            </a:r>
            <a:r>
              <a:rPr lang="zh-CN" altLang="en-US" dirty="0" smtClean="0"/>
              <a:t>和</a:t>
            </a:r>
            <a:r>
              <a:rPr lang="en-US" altLang="zh-CN" dirty="0" smtClean="0"/>
              <a:t>IP</a:t>
            </a:r>
            <a:r>
              <a:rPr lang="zh-CN" altLang="en-US" dirty="0" smtClean="0"/>
              <a:t>代替</a:t>
            </a:r>
            <a:r>
              <a:rPr lang="en-US" altLang="zh-CN" dirty="0" smtClean="0"/>
              <a:t>PC</a:t>
            </a:r>
            <a:r>
              <a:rPr lang="zh-CN" altLang="en-US" dirty="0" smtClean="0"/>
              <a:t>的作用，以</a:t>
            </a:r>
            <a:r>
              <a:rPr lang="en-US" altLang="zh-CN" dirty="0" smtClean="0"/>
              <a:t>FLAG</a:t>
            </a:r>
            <a:r>
              <a:rPr lang="zh-CN" altLang="en-US" dirty="0" smtClean="0"/>
              <a:t>代替</a:t>
            </a:r>
            <a:r>
              <a:rPr lang="en-US" altLang="zh-CN" dirty="0" smtClean="0"/>
              <a:t>PSW</a:t>
            </a:r>
            <a:r>
              <a:rPr lang="zh-CN" altLang="en-US" dirty="0" smtClean="0"/>
              <a:t>的作用，具体第四章要注意联系。</a:t>
            </a:r>
            <a:endParaRPr lang="en-US" altLang="zh-CN" dirty="0" smtClean="0"/>
          </a:p>
          <a:p>
            <a:r>
              <a:rPr lang="en-US" altLang="zh-CN" dirty="0" smtClean="0"/>
              <a:t>3.1.2</a:t>
            </a:r>
            <a:r>
              <a:rPr lang="zh-CN" altLang="en-US" dirty="0" smtClean="0"/>
              <a:t>指令分段执行过程</a:t>
            </a:r>
            <a:r>
              <a:rPr lang="en-US" altLang="zh-CN" dirty="0" smtClean="0"/>
              <a:t>P64</a:t>
            </a:r>
            <a:r>
              <a:rPr lang="zh-CN" altLang="en-US" dirty="0" smtClean="0"/>
              <a:t>，注意和第一章的联系，这部分详细说明之前第一章概念性的东西在具体</a:t>
            </a:r>
            <a:r>
              <a:rPr lang="en-US" altLang="zh-CN" dirty="0" smtClean="0"/>
              <a:t>CPU</a:t>
            </a:r>
            <a:r>
              <a:rPr lang="zh-CN" altLang="en-US" dirty="0" smtClean="0"/>
              <a:t>上如何工作，关联哪些部件，要有概念。</a:t>
            </a:r>
            <a:endParaRPr lang="en-US" altLang="zh-CN" dirty="0" smtClean="0"/>
          </a:p>
          <a:p>
            <a:r>
              <a:rPr lang="en-US" altLang="zh-CN" dirty="0" smtClean="0"/>
              <a:t>3.1.4 </a:t>
            </a:r>
            <a:r>
              <a:rPr lang="zh-CN" altLang="en-US" dirty="0" smtClean="0">
                <a:solidFill>
                  <a:srgbClr val="FF0000"/>
                </a:solidFill>
              </a:rPr>
              <a:t>指令流水线，</a:t>
            </a:r>
            <a:r>
              <a:rPr lang="en-US" altLang="zh-CN" dirty="0" smtClean="0">
                <a:solidFill>
                  <a:srgbClr val="FF0000"/>
                </a:solidFill>
              </a:rPr>
              <a:t>P69</a:t>
            </a:r>
            <a:r>
              <a:rPr lang="zh-CN" altLang="en-US" dirty="0" smtClean="0">
                <a:solidFill>
                  <a:srgbClr val="FF0000"/>
                </a:solidFill>
              </a:rPr>
              <a:t>图</a:t>
            </a:r>
            <a:r>
              <a:rPr lang="en-US" altLang="zh-CN" dirty="0" smtClean="0">
                <a:solidFill>
                  <a:srgbClr val="FF0000"/>
                </a:solidFill>
              </a:rPr>
              <a:t>3-8</a:t>
            </a:r>
            <a:r>
              <a:rPr lang="zh-CN" altLang="en-US" dirty="0" smtClean="0">
                <a:solidFill>
                  <a:srgbClr val="FF0000"/>
                </a:solidFill>
              </a:rPr>
              <a:t>以及对应说明。</a:t>
            </a:r>
            <a:endParaRPr lang="en-US" altLang="zh-CN" dirty="0" smtClean="0">
              <a:solidFill>
                <a:srgbClr val="FF0000"/>
              </a:solidFill>
            </a:endParaRPr>
          </a:p>
          <a:p>
            <a:r>
              <a:rPr lang="en-US" altLang="zh-CN" dirty="0" smtClean="0"/>
              <a:t>3.2.2 </a:t>
            </a:r>
            <a:r>
              <a:rPr lang="zh-CN" altLang="en-US" dirty="0" smtClean="0"/>
              <a:t>补码加减法运算和溢出判别</a:t>
            </a:r>
            <a:r>
              <a:rPr lang="en-US" altLang="zh-CN" dirty="0" smtClean="0"/>
              <a:t>P75-77</a:t>
            </a:r>
          </a:p>
          <a:p>
            <a:r>
              <a:rPr lang="en-US" altLang="zh-CN" dirty="0" smtClean="0"/>
              <a:t>3.3.2 </a:t>
            </a:r>
            <a:r>
              <a:rPr lang="zh-CN" altLang="en-US" dirty="0" smtClean="0"/>
              <a:t>四种情况下数据在内存与</a:t>
            </a:r>
            <a:r>
              <a:rPr lang="en-US" altLang="zh-CN" dirty="0" smtClean="0"/>
              <a:t>CPU</a:t>
            </a:r>
            <a:r>
              <a:rPr lang="zh-CN" altLang="en-US" dirty="0" smtClean="0"/>
              <a:t>内部的数据传送路径</a:t>
            </a:r>
            <a:r>
              <a:rPr lang="en-US" altLang="zh-CN" dirty="0" smtClean="0"/>
              <a:t>P88-89</a:t>
            </a:r>
          </a:p>
          <a:p>
            <a:endParaRPr lang="zh-CN" altLang="en-US" dirty="0"/>
          </a:p>
        </p:txBody>
      </p:sp>
    </p:spTree>
    <p:extLst>
      <p:ext uri="{BB962C8B-B14F-4D97-AF65-F5344CB8AC3E}">
        <p14:creationId xmlns:p14="http://schemas.microsoft.com/office/powerpoint/2010/main" val="1660231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第三章一些技术细节（看 完 这 些 还 是 要 看 书！）</a:t>
            </a:r>
            <a:endParaRPr lang="zh-CN" altLang="en-US" dirty="0"/>
          </a:p>
        </p:txBody>
      </p:sp>
      <p:sp>
        <p:nvSpPr>
          <p:cNvPr id="3" name="内容占位符 2"/>
          <p:cNvSpPr>
            <a:spLocks noGrp="1"/>
          </p:cNvSpPr>
          <p:nvPr>
            <p:ph idx="1"/>
          </p:nvPr>
        </p:nvSpPr>
        <p:spPr/>
        <p:txBody>
          <a:bodyPr>
            <a:normAutofit fontScale="92500" lnSpcReduction="10000"/>
          </a:bodyPr>
          <a:lstStyle/>
          <a:p>
            <a:r>
              <a:rPr lang="zh-CN" altLang="en-US" dirty="0" smtClean="0"/>
              <a:t>补码的加减法运算与溢出问题</a:t>
            </a:r>
          </a:p>
          <a:p>
            <a:pPr marL="0" indent="0">
              <a:buNone/>
            </a:pPr>
            <a:r>
              <a:rPr lang="zh-CN" altLang="en-US" dirty="0" smtClean="0"/>
              <a:t>补码加法运算就是直接两个二进制数的补码相加（包括最高位），最高位的进位直接舍去（即两个</a:t>
            </a:r>
            <a:r>
              <a:rPr lang="en-US" altLang="zh-CN" dirty="0" smtClean="0"/>
              <a:t>8</a:t>
            </a:r>
            <a:r>
              <a:rPr lang="zh-CN" altLang="en-US" dirty="0" smtClean="0"/>
              <a:t>位数相加，产生的第</a:t>
            </a:r>
            <a:r>
              <a:rPr lang="en-US" altLang="zh-CN" dirty="0" smtClean="0"/>
              <a:t>9</a:t>
            </a:r>
            <a:r>
              <a:rPr lang="zh-CN" altLang="en-US" dirty="0" smtClean="0"/>
              <a:t>位进位舍去）。</a:t>
            </a:r>
          </a:p>
          <a:p>
            <a:pPr marL="0" indent="0">
              <a:buNone/>
            </a:pPr>
            <a:r>
              <a:rPr lang="zh-CN" altLang="en-US" dirty="0" smtClean="0"/>
              <a:t>补码减法运算就是转换为被减数加上减数的相反数的补码，即</a:t>
            </a:r>
            <a:r>
              <a:rPr lang="en-US" altLang="zh-CN" dirty="0" smtClean="0"/>
              <a:t>X-Y = X + (-Y)</a:t>
            </a:r>
            <a:r>
              <a:rPr lang="zh-CN" altLang="en-US" dirty="0" smtClean="0"/>
              <a:t>，</a:t>
            </a:r>
            <a:r>
              <a:rPr lang="en-US" altLang="zh-CN" dirty="0" smtClean="0"/>
              <a:t> -Y</a:t>
            </a:r>
            <a:r>
              <a:rPr lang="zh-CN" altLang="en-US" dirty="0" smtClean="0"/>
              <a:t>和</a:t>
            </a:r>
            <a:r>
              <a:rPr lang="en-US" altLang="zh-CN" dirty="0" smtClean="0"/>
              <a:t>Y</a:t>
            </a:r>
            <a:r>
              <a:rPr lang="zh-CN" altLang="en-US" dirty="0" smtClean="0"/>
              <a:t>的关系是：将</a:t>
            </a:r>
            <a:r>
              <a:rPr lang="en-US" altLang="zh-CN" dirty="0" smtClean="0"/>
              <a:t>Y</a:t>
            </a:r>
            <a:r>
              <a:rPr lang="zh-CN" altLang="en-US" dirty="0" smtClean="0"/>
              <a:t>的补码按位取反，即每一位的</a:t>
            </a:r>
            <a:r>
              <a:rPr lang="en-US" altLang="zh-CN" dirty="0" smtClean="0"/>
              <a:t>1</a:t>
            </a:r>
            <a:r>
              <a:rPr lang="zh-CN" altLang="en-US" dirty="0" smtClean="0"/>
              <a:t>变</a:t>
            </a:r>
            <a:r>
              <a:rPr lang="en-US" altLang="zh-CN" dirty="0" smtClean="0"/>
              <a:t>0</a:t>
            </a:r>
            <a:r>
              <a:rPr lang="zh-CN" altLang="en-US" dirty="0" smtClean="0"/>
              <a:t>，</a:t>
            </a:r>
            <a:r>
              <a:rPr lang="en-US" altLang="zh-CN" dirty="0" smtClean="0"/>
              <a:t>0</a:t>
            </a:r>
            <a:r>
              <a:rPr lang="zh-CN" altLang="en-US" dirty="0" smtClean="0"/>
              <a:t>变</a:t>
            </a:r>
            <a:r>
              <a:rPr lang="en-US" altLang="zh-CN" dirty="0" smtClean="0"/>
              <a:t>1</a:t>
            </a:r>
            <a:r>
              <a:rPr lang="zh-CN" altLang="en-US" dirty="0" smtClean="0"/>
              <a:t>，得到的二进制数再加上</a:t>
            </a:r>
            <a:r>
              <a:rPr lang="en-US" altLang="zh-CN" dirty="0" smtClean="0"/>
              <a:t>1</a:t>
            </a:r>
            <a:r>
              <a:rPr lang="zh-CN" altLang="en-US" dirty="0" smtClean="0"/>
              <a:t>，就是</a:t>
            </a:r>
            <a:r>
              <a:rPr lang="en-US" altLang="zh-CN" dirty="0" smtClean="0"/>
              <a:t>-Y</a:t>
            </a:r>
            <a:r>
              <a:rPr lang="zh-CN" altLang="en-US" dirty="0" smtClean="0"/>
              <a:t>的补码。</a:t>
            </a:r>
          </a:p>
          <a:p>
            <a:pPr marL="0" indent="0">
              <a:buNone/>
            </a:pPr>
            <a:r>
              <a:rPr lang="zh-CN" altLang="en-US" dirty="0" smtClean="0"/>
              <a:t>溢出问题见例</a:t>
            </a:r>
            <a:r>
              <a:rPr lang="en-US" altLang="zh-CN" dirty="0" smtClean="0"/>
              <a:t>3-4 P76-77 </a:t>
            </a:r>
            <a:r>
              <a:rPr lang="zh-CN" altLang="en-US" dirty="0" smtClean="0"/>
              <a:t>注意溢出和最高位产生进位是两回事！最高位产生进位不一定是溢出，溢出也不一定在最高位产生进位。所谓溢出，指两个正数的补码相加，运算结果变成负数；或两个负数的补码相加，运算结果变为正数。结合例</a:t>
            </a:r>
            <a:r>
              <a:rPr lang="en-US" altLang="zh-CN" dirty="0" smtClean="0"/>
              <a:t>3-4</a:t>
            </a:r>
            <a:r>
              <a:rPr lang="zh-CN" altLang="en-US" dirty="0" smtClean="0"/>
              <a:t>的正溢例子</a:t>
            </a:r>
            <a:r>
              <a:rPr lang="en-US" altLang="zh-CN" dirty="0" smtClean="0"/>
              <a:t>63+66</a:t>
            </a:r>
            <a:r>
              <a:rPr lang="zh-CN" altLang="en-US" dirty="0" smtClean="0"/>
              <a:t>和负溢例子</a:t>
            </a:r>
            <a:r>
              <a:rPr lang="en-US" altLang="zh-CN" dirty="0" smtClean="0"/>
              <a:t>-63+</a:t>
            </a:r>
            <a:r>
              <a:rPr lang="zh-CN" altLang="en-US" dirty="0" smtClean="0"/>
              <a:t>（</a:t>
            </a:r>
            <a:r>
              <a:rPr lang="en-US" altLang="zh-CN" dirty="0" smtClean="0"/>
              <a:t>-66</a:t>
            </a:r>
            <a:r>
              <a:rPr lang="zh-CN" altLang="en-US" dirty="0" smtClean="0"/>
              <a:t>），看看两个二进制数补码相加得出的结果，转化为十进制数是什么，和原本十进制的运算结果是否符合？</a:t>
            </a:r>
          </a:p>
          <a:p>
            <a:pPr marL="0" indent="0">
              <a:buNone/>
            </a:pPr>
            <a:endParaRPr lang="en-US" altLang="zh-CN" dirty="0" smtClean="0"/>
          </a:p>
          <a:p>
            <a:pPr marL="0" indent="0">
              <a:buNone/>
            </a:pPr>
            <a:endParaRPr lang="zh-CN" altLang="en-US" dirty="0"/>
          </a:p>
        </p:txBody>
      </p:sp>
    </p:spTree>
    <p:extLst>
      <p:ext uri="{BB962C8B-B14F-4D97-AF65-F5344CB8AC3E}">
        <p14:creationId xmlns:p14="http://schemas.microsoft.com/office/powerpoint/2010/main" val="2629065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a:t>
            </a:r>
            <a:endParaRPr lang="zh-CN" altLang="en-US" dirty="0"/>
          </a:p>
        </p:txBody>
      </p:sp>
      <p:sp>
        <p:nvSpPr>
          <p:cNvPr id="3" name="内容占位符 2"/>
          <p:cNvSpPr>
            <a:spLocks noGrp="1"/>
          </p:cNvSpPr>
          <p:nvPr>
            <p:ph idx="1"/>
          </p:nvPr>
        </p:nvSpPr>
        <p:spPr>
          <a:xfrm>
            <a:off x="838200" y="1511808"/>
            <a:ext cx="10515600" cy="4665155"/>
          </a:xfrm>
        </p:spPr>
        <p:txBody>
          <a:bodyPr>
            <a:normAutofit lnSpcReduction="10000"/>
          </a:bodyPr>
          <a:lstStyle/>
          <a:p>
            <a:r>
              <a:rPr lang="en-US" altLang="zh-CN" dirty="0" smtClean="0">
                <a:solidFill>
                  <a:srgbClr val="FF0000"/>
                </a:solidFill>
              </a:rPr>
              <a:t>80X86 CPU</a:t>
            </a:r>
            <a:r>
              <a:rPr lang="zh-CN" altLang="en-US" dirty="0" smtClean="0">
                <a:solidFill>
                  <a:srgbClr val="FF0000"/>
                </a:solidFill>
              </a:rPr>
              <a:t>寄存器分类 通用寄存器，</a:t>
            </a:r>
            <a:r>
              <a:rPr lang="en-US" altLang="zh-CN" dirty="0" smtClean="0">
                <a:solidFill>
                  <a:srgbClr val="FF0000"/>
                </a:solidFill>
              </a:rPr>
              <a:t>4</a:t>
            </a:r>
            <a:r>
              <a:rPr lang="zh-CN" altLang="en-US" dirty="0" smtClean="0">
                <a:solidFill>
                  <a:srgbClr val="FF0000"/>
                </a:solidFill>
              </a:rPr>
              <a:t>个</a:t>
            </a:r>
            <a:r>
              <a:rPr lang="en-US" altLang="zh-CN" dirty="0" smtClean="0">
                <a:solidFill>
                  <a:srgbClr val="FF0000"/>
                </a:solidFill>
              </a:rPr>
              <a:t>16</a:t>
            </a:r>
            <a:r>
              <a:rPr lang="zh-CN" altLang="en-US" dirty="0" smtClean="0">
                <a:solidFill>
                  <a:srgbClr val="FF0000"/>
                </a:solidFill>
              </a:rPr>
              <a:t>位寄存器用途</a:t>
            </a:r>
            <a:r>
              <a:rPr lang="en-US" altLang="zh-CN" dirty="0" smtClean="0"/>
              <a:t>P126</a:t>
            </a:r>
          </a:p>
          <a:p>
            <a:r>
              <a:rPr lang="zh-CN" altLang="en-US" dirty="0" smtClean="0">
                <a:solidFill>
                  <a:srgbClr val="FF0000"/>
                </a:solidFill>
              </a:rPr>
              <a:t>四个段寄存器</a:t>
            </a:r>
            <a:r>
              <a:rPr lang="en-US" altLang="zh-CN" dirty="0" smtClean="0">
                <a:solidFill>
                  <a:srgbClr val="FF0000"/>
                </a:solidFill>
              </a:rPr>
              <a:t>CS,DS,</a:t>
            </a:r>
            <a:r>
              <a:rPr lang="en-US" altLang="zh-CN" dirty="0" smtClean="0"/>
              <a:t>ES</a:t>
            </a:r>
            <a:r>
              <a:rPr lang="zh-CN" altLang="en-US" dirty="0" smtClean="0"/>
              <a:t>与</a:t>
            </a:r>
            <a:r>
              <a:rPr lang="en-US" altLang="zh-CN" dirty="0" smtClean="0"/>
              <a:t>SS</a:t>
            </a:r>
            <a:r>
              <a:rPr lang="zh-CN" altLang="en-US" dirty="0" smtClean="0"/>
              <a:t>的意义 </a:t>
            </a:r>
            <a:r>
              <a:rPr lang="en-US" altLang="zh-CN" dirty="0" smtClean="0"/>
              <a:t>P127</a:t>
            </a:r>
            <a:r>
              <a:rPr lang="zh-CN" altLang="en-US" dirty="0"/>
              <a:t> </a:t>
            </a:r>
            <a:r>
              <a:rPr lang="en-US" altLang="zh-CN" dirty="0" smtClean="0"/>
              <a:t>P132</a:t>
            </a:r>
          </a:p>
          <a:p>
            <a:r>
              <a:rPr lang="en-US" altLang="zh-CN" dirty="0" smtClean="0">
                <a:solidFill>
                  <a:srgbClr val="FF0000"/>
                </a:solidFill>
              </a:rPr>
              <a:t>IP</a:t>
            </a:r>
            <a:r>
              <a:rPr lang="zh-CN" altLang="en-US" dirty="0" smtClean="0">
                <a:solidFill>
                  <a:srgbClr val="FF0000"/>
                </a:solidFill>
              </a:rPr>
              <a:t>寄存器的意义，</a:t>
            </a:r>
            <a:r>
              <a:rPr lang="en-US" altLang="zh-CN" dirty="0" smtClean="0"/>
              <a:t>IP</a:t>
            </a:r>
            <a:r>
              <a:rPr lang="zh-CN" altLang="en-US" dirty="0" smtClean="0"/>
              <a:t>寄存器如何使指令连续执行 ，注意与第三章</a:t>
            </a:r>
            <a:r>
              <a:rPr lang="en-US" altLang="zh-CN" dirty="0" smtClean="0"/>
              <a:t>PC</a:t>
            </a:r>
            <a:r>
              <a:rPr lang="zh-CN" altLang="en-US" dirty="0" smtClean="0"/>
              <a:t>联系，</a:t>
            </a:r>
            <a:r>
              <a:rPr lang="en-US" altLang="zh-CN" dirty="0" smtClean="0"/>
              <a:t>CS:IP</a:t>
            </a:r>
            <a:r>
              <a:rPr lang="zh-CN" altLang="en-US" dirty="0" smtClean="0"/>
              <a:t>为</a:t>
            </a:r>
            <a:r>
              <a:rPr lang="en-US" altLang="zh-CN" dirty="0" smtClean="0"/>
              <a:t>PC</a:t>
            </a:r>
            <a:r>
              <a:rPr lang="zh-CN" altLang="en-US" dirty="0" smtClean="0"/>
              <a:t>的实际实现，</a:t>
            </a:r>
            <a:r>
              <a:rPr lang="en-US" altLang="zh-CN" dirty="0" smtClean="0"/>
              <a:t>P128</a:t>
            </a:r>
          </a:p>
          <a:p>
            <a:r>
              <a:rPr lang="en-US" altLang="zh-CN" dirty="0" smtClean="0">
                <a:solidFill>
                  <a:srgbClr val="FF0000"/>
                </a:solidFill>
              </a:rPr>
              <a:t>FLAGS</a:t>
            </a:r>
            <a:r>
              <a:rPr lang="zh-CN" altLang="en-US" dirty="0" smtClean="0">
                <a:solidFill>
                  <a:srgbClr val="FF0000"/>
                </a:solidFill>
              </a:rPr>
              <a:t>寄存器的意义，</a:t>
            </a:r>
            <a:r>
              <a:rPr lang="zh-CN" altLang="en-US" dirty="0" smtClean="0"/>
              <a:t>为第三章</a:t>
            </a:r>
            <a:r>
              <a:rPr lang="en-US" altLang="zh-CN" dirty="0" smtClean="0"/>
              <a:t>PSW</a:t>
            </a:r>
            <a:r>
              <a:rPr lang="zh-CN" altLang="en-US" dirty="0" smtClean="0"/>
              <a:t>的实际实现，注意几个核心标志位的意义</a:t>
            </a:r>
            <a:r>
              <a:rPr lang="en-US" altLang="zh-CN" dirty="0" smtClean="0"/>
              <a:t>OF,SF,ZF,CF P128-129</a:t>
            </a:r>
          </a:p>
          <a:p>
            <a:r>
              <a:rPr lang="zh-CN" altLang="en-US" dirty="0" smtClean="0">
                <a:solidFill>
                  <a:srgbClr val="FF0000"/>
                </a:solidFill>
              </a:rPr>
              <a:t>存储单元的地址和内容的关系，</a:t>
            </a:r>
            <a:r>
              <a:rPr lang="en-US" altLang="zh-CN" dirty="0" smtClean="0">
                <a:solidFill>
                  <a:srgbClr val="FF0000"/>
                </a:solidFill>
              </a:rPr>
              <a:t>P131</a:t>
            </a:r>
            <a:r>
              <a:rPr lang="zh-CN" altLang="en-US" dirty="0" smtClean="0">
                <a:solidFill>
                  <a:srgbClr val="FF0000"/>
                </a:solidFill>
              </a:rPr>
              <a:t>，存储单元字节与物理地址的表示（第一段），地址范围与总线宽度关系（第二段），结合图</a:t>
            </a:r>
            <a:r>
              <a:rPr lang="en-US" altLang="zh-CN" dirty="0" smtClean="0">
                <a:solidFill>
                  <a:srgbClr val="FF0000"/>
                </a:solidFill>
              </a:rPr>
              <a:t>4-11</a:t>
            </a:r>
            <a:r>
              <a:rPr lang="zh-CN" altLang="en-US" dirty="0" smtClean="0">
                <a:solidFill>
                  <a:srgbClr val="FF0000"/>
                </a:solidFill>
              </a:rPr>
              <a:t>，同样的地址</a:t>
            </a:r>
            <a:r>
              <a:rPr lang="en-US" altLang="zh-CN" dirty="0" smtClean="0">
                <a:solidFill>
                  <a:srgbClr val="FF0000"/>
                </a:solidFill>
              </a:rPr>
              <a:t>0004H</a:t>
            </a:r>
            <a:r>
              <a:rPr lang="zh-CN" altLang="en-US" dirty="0" smtClean="0">
                <a:solidFill>
                  <a:srgbClr val="FF0000"/>
                </a:solidFill>
              </a:rPr>
              <a:t>在以字节（</a:t>
            </a:r>
            <a:r>
              <a:rPr lang="en-US" altLang="zh-CN" dirty="0" smtClean="0">
                <a:solidFill>
                  <a:srgbClr val="FF0000"/>
                </a:solidFill>
              </a:rPr>
              <a:t>DB,8</a:t>
            </a:r>
            <a:r>
              <a:rPr lang="zh-CN" altLang="en-US" dirty="0" smtClean="0">
                <a:solidFill>
                  <a:srgbClr val="FF0000"/>
                </a:solidFill>
              </a:rPr>
              <a:t>位）和字（</a:t>
            </a:r>
            <a:r>
              <a:rPr lang="en-US" altLang="zh-CN" dirty="0" smtClean="0">
                <a:solidFill>
                  <a:srgbClr val="FF0000"/>
                </a:solidFill>
              </a:rPr>
              <a:t>DW,16</a:t>
            </a:r>
            <a:r>
              <a:rPr lang="zh-CN" altLang="en-US" dirty="0" smtClean="0">
                <a:solidFill>
                  <a:srgbClr val="FF0000"/>
                </a:solidFill>
              </a:rPr>
              <a:t>位）下读取结果的不同，说明数据高位放高地址，低位放低地址（</a:t>
            </a:r>
            <a:r>
              <a:rPr lang="en-US" altLang="zh-CN" dirty="0" smtClean="0">
                <a:solidFill>
                  <a:srgbClr val="FF0000"/>
                </a:solidFill>
              </a:rPr>
              <a:t>345</a:t>
            </a:r>
            <a:r>
              <a:rPr lang="zh-CN" altLang="en-US" dirty="0">
                <a:solidFill>
                  <a:srgbClr val="FF0000"/>
                </a:solidFill>
              </a:rPr>
              <a:t>段</a:t>
            </a:r>
            <a:r>
              <a:rPr lang="zh-CN" altLang="en-US" dirty="0" smtClean="0">
                <a:solidFill>
                  <a:srgbClr val="FF0000"/>
                </a:solidFill>
              </a:rPr>
              <a:t>）</a:t>
            </a:r>
            <a:endParaRPr lang="zh-CN" altLang="en-US" dirty="0">
              <a:solidFill>
                <a:srgbClr val="FF0000"/>
              </a:solidFill>
            </a:endParaRPr>
          </a:p>
        </p:txBody>
      </p:sp>
    </p:spTree>
    <p:extLst>
      <p:ext uri="{BB962C8B-B14F-4D97-AF65-F5344CB8AC3E}">
        <p14:creationId xmlns:p14="http://schemas.microsoft.com/office/powerpoint/2010/main" val="58600341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a:t>
            </a:r>
            <a:endParaRPr lang="zh-CN" altLang="en-US" dirty="0"/>
          </a:p>
        </p:txBody>
      </p:sp>
      <p:sp>
        <p:nvSpPr>
          <p:cNvPr id="3" name="内容占位符 2"/>
          <p:cNvSpPr>
            <a:spLocks noGrp="1"/>
          </p:cNvSpPr>
          <p:nvPr>
            <p:ph idx="1"/>
          </p:nvPr>
        </p:nvSpPr>
        <p:spPr>
          <a:xfrm>
            <a:off x="838200" y="1463040"/>
            <a:ext cx="10515600" cy="4713923"/>
          </a:xfrm>
        </p:spPr>
        <p:txBody>
          <a:bodyPr>
            <a:normAutofit fontScale="77500" lnSpcReduction="20000"/>
          </a:bodyPr>
          <a:lstStyle/>
          <a:p>
            <a:r>
              <a:rPr lang="zh-CN" altLang="en-US" dirty="0" smtClean="0">
                <a:solidFill>
                  <a:srgbClr val="FF0000"/>
                </a:solidFill>
              </a:rPr>
              <a:t>存储器物理地址如何与段基址</a:t>
            </a:r>
            <a:r>
              <a:rPr lang="en-US" altLang="zh-CN" dirty="0" smtClean="0">
                <a:solidFill>
                  <a:srgbClr val="FF0000"/>
                </a:solidFill>
              </a:rPr>
              <a:t>+</a:t>
            </a:r>
            <a:r>
              <a:rPr lang="zh-CN" altLang="en-US" dirty="0" smtClean="0">
                <a:solidFill>
                  <a:srgbClr val="FF0000"/>
                </a:solidFill>
              </a:rPr>
              <a:t>偏移地址进行转换 </a:t>
            </a:r>
            <a:r>
              <a:rPr lang="en-US" altLang="zh-CN" dirty="0" smtClean="0"/>
              <a:t>P132</a:t>
            </a:r>
            <a:r>
              <a:rPr lang="zh-CN" altLang="en-US" dirty="0" smtClean="0"/>
              <a:t>，图</a:t>
            </a:r>
            <a:r>
              <a:rPr lang="en-US" altLang="zh-CN" dirty="0" smtClean="0"/>
              <a:t>4-12</a:t>
            </a:r>
            <a:r>
              <a:rPr lang="zh-CN" altLang="en-US" dirty="0" smtClean="0"/>
              <a:t>与对应解说。</a:t>
            </a:r>
            <a:endParaRPr lang="en-US" altLang="zh-CN" dirty="0" smtClean="0"/>
          </a:p>
          <a:p>
            <a:r>
              <a:rPr lang="zh-CN" altLang="en-US" dirty="0" smtClean="0">
                <a:solidFill>
                  <a:srgbClr val="FF0000"/>
                </a:solidFill>
              </a:rPr>
              <a:t>段寄存器与偏移地址组合关系，以及该组合指向的段内容。</a:t>
            </a:r>
            <a:r>
              <a:rPr lang="en-US" altLang="zh-CN" dirty="0" smtClean="0">
                <a:solidFill>
                  <a:srgbClr val="FF0000"/>
                </a:solidFill>
              </a:rPr>
              <a:t>P133</a:t>
            </a:r>
          </a:p>
          <a:p>
            <a:r>
              <a:rPr lang="zh-CN" altLang="en-US" dirty="0" smtClean="0">
                <a:solidFill>
                  <a:srgbClr val="FF0000"/>
                </a:solidFill>
              </a:rPr>
              <a:t>各种寻址方式的范例</a:t>
            </a:r>
            <a:r>
              <a:rPr lang="en-US" altLang="zh-CN" dirty="0" smtClean="0">
                <a:solidFill>
                  <a:srgbClr val="FF0000"/>
                </a:solidFill>
              </a:rPr>
              <a:t>P141-147</a:t>
            </a:r>
            <a:r>
              <a:rPr lang="en-US" altLang="zh-CN" dirty="0" smtClean="0"/>
              <a:t>,</a:t>
            </a:r>
            <a:r>
              <a:rPr lang="zh-CN" altLang="en-US" dirty="0" smtClean="0"/>
              <a:t>与第二章寻址方式部分结合看</a:t>
            </a:r>
            <a:endParaRPr lang="en-US" altLang="zh-CN" dirty="0" smtClean="0"/>
          </a:p>
          <a:p>
            <a:r>
              <a:rPr lang="en-US" altLang="zh-CN" dirty="0" smtClean="0">
                <a:solidFill>
                  <a:srgbClr val="FF0000"/>
                </a:solidFill>
              </a:rPr>
              <a:t>MOV</a:t>
            </a:r>
            <a:r>
              <a:rPr lang="zh-CN" altLang="en-US" dirty="0" smtClean="0">
                <a:solidFill>
                  <a:srgbClr val="FF0000"/>
                </a:solidFill>
              </a:rPr>
              <a:t>传送指令</a:t>
            </a:r>
            <a:r>
              <a:rPr lang="zh-CN" altLang="en-US" dirty="0" smtClean="0"/>
              <a:t>，注意后面所有指令要点均为格式、功能、受影响的标志位（即是否改变</a:t>
            </a:r>
            <a:r>
              <a:rPr lang="en-US" altLang="zh-CN" dirty="0" smtClean="0"/>
              <a:t>FLAGS</a:t>
            </a:r>
            <a:r>
              <a:rPr lang="zh-CN" altLang="en-US" dirty="0" smtClean="0"/>
              <a:t>寄存器中对应的位），以及注意事项</a:t>
            </a:r>
            <a:r>
              <a:rPr lang="en-US" altLang="zh-CN" dirty="0" smtClean="0"/>
              <a:t>P149</a:t>
            </a:r>
          </a:p>
          <a:p>
            <a:r>
              <a:rPr lang="en-US" altLang="zh-CN" dirty="0" smtClean="0"/>
              <a:t>PUSH,POP</a:t>
            </a:r>
            <a:r>
              <a:rPr lang="zh-CN" altLang="en-US" dirty="0" smtClean="0"/>
              <a:t>指令 </a:t>
            </a:r>
            <a:r>
              <a:rPr lang="en-US" altLang="zh-CN" dirty="0" smtClean="0"/>
              <a:t>P149</a:t>
            </a:r>
          </a:p>
          <a:p>
            <a:r>
              <a:rPr lang="en-US" altLang="zh-CN" dirty="0" smtClean="0">
                <a:solidFill>
                  <a:srgbClr val="FF0000"/>
                </a:solidFill>
              </a:rPr>
              <a:t>ADD</a:t>
            </a:r>
            <a:r>
              <a:rPr lang="zh-CN" altLang="en-US" dirty="0" smtClean="0">
                <a:solidFill>
                  <a:srgbClr val="FF0000"/>
                </a:solidFill>
              </a:rPr>
              <a:t>指令，</a:t>
            </a:r>
            <a:r>
              <a:rPr lang="en-US" altLang="zh-CN" dirty="0" smtClean="0">
                <a:solidFill>
                  <a:srgbClr val="FF0000"/>
                </a:solidFill>
              </a:rPr>
              <a:t>ADC</a:t>
            </a:r>
            <a:r>
              <a:rPr lang="zh-CN" altLang="en-US" dirty="0" smtClean="0">
                <a:solidFill>
                  <a:srgbClr val="FF0000"/>
                </a:solidFill>
              </a:rPr>
              <a:t>指令 </a:t>
            </a:r>
            <a:r>
              <a:rPr lang="en-US" altLang="zh-CN" dirty="0" smtClean="0">
                <a:solidFill>
                  <a:srgbClr val="FF0000"/>
                </a:solidFill>
              </a:rPr>
              <a:t>P157-158</a:t>
            </a:r>
            <a:r>
              <a:rPr lang="zh-CN" altLang="en-US" dirty="0" smtClean="0"/>
              <a:t>，注意例</a:t>
            </a:r>
            <a:r>
              <a:rPr lang="en-US" altLang="zh-CN" dirty="0" smtClean="0"/>
              <a:t>4-30</a:t>
            </a:r>
            <a:r>
              <a:rPr lang="zh-CN" altLang="en-US" dirty="0" smtClean="0"/>
              <a:t>如何使用两个</a:t>
            </a:r>
            <a:r>
              <a:rPr lang="en-US" altLang="zh-CN" dirty="0" smtClean="0"/>
              <a:t>16</a:t>
            </a:r>
            <a:r>
              <a:rPr lang="zh-CN" altLang="en-US" dirty="0" smtClean="0"/>
              <a:t>位寄存器实现</a:t>
            </a:r>
            <a:r>
              <a:rPr lang="en-US" altLang="zh-CN" dirty="0" smtClean="0"/>
              <a:t>32</a:t>
            </a:r>
            <a:r>
              <a:rPr lang="zh-CN" altLang="en-US" dirty="0" smtClean="0"/>
              <a:t>位加法。</a:t>
            </a:r>
            <a:endParaRPr lang="en-US" altLang="zh-CN" dirty="0" smtClean="0"/>
          </a:p>
          <a:p>
            <a:r>
              <a:rPr lang="en-US" altLang="zh-CN" dirty="0" smtClean="0">
                <a:solidFill>
                  <a:srgbClr val="FF0000"/>
                </a:solidFill>
              </a:rPr>
              <a:t>SUB</a:t>
            </a:r>
            <a:r>
              <a:rPr lang="zh-CN" altLang="en-US" dirty="0" smtClean="0">
                <a:solidFill>
                  <a:srgbClr val="FF0000"/>
                </a:solidFill>
              </a:rPr>
              <a:t>指令，</a:t>
            </a:r>
            <a:r>
              <a:rPr lang="en-US" altLang="zh-CN" dirty="0" smtClean="0">
                <a:solidFill>
                  <a:srgbClr val="FF0000"/>
                </a:solidFill>
              </a:rPr>
              <a:t>SBB</a:t>
            </a:r>
            <a:r>
              <a:rPr lang="zh-CN" altLang="en-US" dirty="0" smtClean="0">
                <a:solidFill>
                  <a:srgbClr val="FF0000"/>
                </a:solidFill>
              </a:rPr>
              <a:t>指令，</a:t>
            </a:r>
            <a:r>
              <a:rPr lang="en-US" altLang="zh-CN" dirty="0" smtClean="0">
                <a:solidFill>
                  <a:srgbClr val="FF0000"/>
                </a:solidFill>
              </a:rPr>
              <a:t>NEG</a:t>
            </a:r>
            <a:r>
              <a:rPr lang="zh-CN" altLang="en-US" dirty="0" smtClean="0">
                <a:solidFill>
                  <a:srgbClr val="FF0000"/>
                </a:solidFill>
              </a:rPr>
              <a:t>指令，</a:t>
            </a:r>
            <a:r>
              <a:rPr lang="en-US" altLang="zh-CN" dirty="0" smtClean="0">
                <a:solidFill>
                  <a:srgbClr val="FF0000"/>
                </a:solidFill>
              </a:rPr>
              <a:t>CMP</a:t>
            </a:r>
            <a:r>
              <a:rPr lang="zh-CN" altLang="en-US" dirty="0" smtClean="0">
                <a:solidFill>
                  <a:srgbClr val="FF0000"/>
                </a:solidFill>
              </a:rPr>
              <a:t>指令 </a:t>
            </a:r>
            <a:r>
              <a:rPr lang="en-US" altLang="zh-CN" dirty="0" smtClean="0">
                <a:solidFill>
                  <a:srgbClr val="FF0000"/>
                </a:solidFill>
              </a:rPr>
              <a:t>P160</a:t>
            </a:r>
          </a:p>
          <a:p>
            <a:r>
              <a:rPr lang="en-US" altLang="zh-CN" dirty="0" smtClean="0">
                <a:solidFill>
                  <a:srgbClr val="FF0000"/>
                </a:solidFill>
              </a:rPr>
              <a:t>MUL</a:t>
            </a:r>
            <a:r>
              <a:rPr lang="zh-CN" altLang="en-US" dirty="0" smtClean="0">
                <a:solidFill>
                  <a:srgbClr val="FF0000"/>
                </a:solidFill>
              </a:rPr>
              <a:t>指令，</a:t>
            </a:r>
            <a:r>
              <a:rPr lang="en-US" altLang="zh-CN" dirty="0" smtClean="0">
                <a:solidFill>
                  <a:srgbClr val="FF0000"/>
                </a:solidFill>
              </a:rPr>
              <a:t>DIV</a:t>
            </a:r>
            <a:r>
              <a:rPr lang="zh-CN" altLang="en-US" dirty="0" smtClean="0">
                <a:solidFill>
                  <a:srgbClr val="FF0000"/>
                </a:solidFill>
              </a:rPr>
              <a:t>指令，要特别注意乘数</a:t>
            </a:r>
            <a:r>
              <a:rPr lang="en-US" altLang="zh-CN" dirty="0" smtClean="0">
                <a:solidFill>
                  <a:srgbClr val="FF0000"/>
                </a:solidFill>
              </a:rPr>
              <a:t>/</a:t>
            </a:r>
            <a:r>
              <a:rPr lang="zh-CN" altLang="en-US" dirty="0" smtClean="0">
                <a:solidFill>
                  <a:srgbClr val="FF0000"/>
                </a:solidFill>
              </a:rPr>
              <a:t>除数为</a:t>
            </a:r>
            <a:r>
              <a:rPr lang="en-US" altLang="zh-CN" dirty="0" smtClean="0">
                <a:solidFill>
                  <a:srgbClr val="FF0000"/>
                </a:solidFill>
              </a:rPr>
              <a:t>8</a:t>
            </a:r>
            <a:r>
              <a:rPr lang="zh-CN" altLang="en-US" dirty="0" smtClean="0">
                <a:solidFill>
                  <a:srgbClr val="FF0000"/>
                </a:solidFill>
              </a:rPr>
              <a:t>位和</a:t>
            </a:r>
            <a:r>
              <a:rPr lang="en-US" altLang="zh-CN" dirty="0" smtClean="0">
                <a:solidFill>
                  <a:srgbClr val="FF0000"/>
                </a:solidFill>
              </a:rPr>
              <a:t>16</a:t>
            </a:r>
            <a:r>
              <a:rPr lang="zh-CN" altLang="en-US" dirty="0" smtClean="0">
                <a:solidFill>
                  <a:srgbClr val="FF0000"/>
                </a:solidFill>
              </a:rPr>
              <a:t>位时被乘数、被除数的情况，注意积、商、余数存放的位置。</a:t>
            </a:r>
            <a:r>
              <a:rPr lang="en-US" altLang="zh-CN" dirty="0" smtClean="0">
                <a:solidFill>
                  <a:srgbClr val="FF0000"/>
                </a:solidFill>
              </a:rPr>
              <a:t>P161-162</a:t>
            </a:r>
          </a:p>
          <a:p>
            <a:r>
              <a:rPr lang="zh-CN" altLang="en-US" dirty="0" smtClean="0">
                <a:solidFill>
                  <a:srgbClr val="FF0000"/>
                </a:solidFill>
              </a:rPr>
              <a:t>逻辑移位指令和算术移位指令，特别是算术右移指令</a:t>
            </a:r>
            <a:r>
              <a:rPr lang="en-US" altLang="zh-CN" dirty="0" smtClean="0">
                <a:solidFill>
                  <a:srgbClr val="FF0000"/>
                </a:solidFill>
              </a:rPr>
              <a:t>P168-169</a:t>
            </a:r>
          </a:p>
          <a:p>
            <a:r>
              <a:rPr lang="zh-CN" altLang="en-US" dirty="0"/>
              <a:t>串</a:t>
            </a:r>
            <a:r>
              <a:rPr lang="zh-CN" altLang="en-US" dirty="0" smtClean="0"/>
              <a:t>操作指令：</a:t>
            </a:r>
            <a:r>
              <a:rPr lang="en-US" altLang="zh-CN" dirty="0" smtClean="0"/>
              <a:t>MOVS,CMPS,STOS,LODS</a:t>
            </a:r>
            <a:r>
              <a:rPr lang="zh-CN" altLang="en-US" dirty="0" smtClean="0"/>
              <a:t>的实现细节、关联寄存器，以及其与</a:t>
            </a:r>
            <a:r>
              <a:rPr lang="en-US" altLang="zh-CN" dirty="0" smtClean="0"/>
              <a:t>REP,REPE</a:t>
            </a:r>
            <a:r>
              <a:rPr lang="zh-CN" altLang="en-US" dirty="0" smtClean="0"/>
              <a:t>和</a:t>
            </a:r>
            <a:r>
              <a:rPr lang="en-US" altLang="zh-CN" dirty="0" smtClean="0"/>
              <a:t>REPNE</a:t>
            </a:r>
            <a:r>
              <a:rPr lang="zh-CN" altLang="en-US" dirty="0" smtClean="0"/>
              <a:t>的组合关系</a:t>
            </a:r>
            <a:endParaRPr lang="zh-CN" altLang="en-US" dirty="0"/>
          </a:p>
        </p:txBody>
      </p:sp>
    </p:spTree>
    <p:extLst>
      <p:ext uri="{BB962C8B-B14F-4D97-AF65-F5344CB8AC3E}">
        <p14:creationId xmlns:p14="http://schemas.microsoft.com/office/powerpoint/2010/main" val="34276132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第四章一些技术细节（看 完 这 些 还 是 要 看 书！）</a:t>
            </a:r>
            <a:endParaRPr lang="zh-CN" altLang="en-US" dirty="0"/>
          </a:p>
        </p:txBody>
      </p:sp>
      <p:sp>
        <p:nvSpPr>
          <p:cNvPr id="3" name="内容占位符 2"/>
          <p:cNvSpPr>
            <a:spLocks noGrp="1"/>
          </p:cNvSpPr>
          <p:nvPr>
            <p:ph idx="1"/>
          </p:nvPr>
        </p:nvSpPr>
        <p:spPr>
          <a:xfrm>
            <a:off x="838200" y="1825624"/>
            <a:ext cx="10515600" cy="4739767"/>
          </a:xfrm>
        </p:spPr>
        <p:txBody>
          <a:bodyPr>
            <a:normAutofit/>
          </a:bodyPr>
          <a:lstStyle/>
          <a:p>
            <a:r>
              <a:rPr lang="en-US" altLang="zh-CN" sz="2000" dirty="0" smtClean="0">
                <a:solidFill>
                  <a:srgbClr val="FF0000"/>
                </a:solidFill>
              </a:rPr>
              <a:t>8086</a:t>
            </a:r>
            <a:r>
              <a:rPr lang="zh-CN" altLang="en-US" sz="2000" dirty="0" smtClean="0">
                <a:solidFill>
                  <a:srgbClr val="FF0000"/>
                </a:solidFill>
              </a:rPr>
              <a:t>架构</a:t>
            </a:r>
            <a:r>
              <a:rPr lang="en-US" altLang="zh-CN" sz="2000" dirty="0" smtClean="0">
                <a:solidFill>
                  <a:srgbClr val="FF0000"/>
                </a:solidFill>
              </a:rPr>
              <a:t>CPU</a:t>
            </a:r>
            <a:r>
              <a:rPr lang="zh-CN" altLang="en-US" sz="2000" dirty="0" smtClean="0">
                <a:solidFill>
                  <a:srgbClr val="FF0000"/>
                </a:solidFill>
              </a:rPr>
              <a:t>的内部结构</a:t>
            </a:r>
          </a:p>
          <a:p>
            <a:pPr marL="0" indent="0">
              <a:buNone/>
            </a:pPr>
            <a:r>
              <a:rPr lang="zh-CN" altLang="en-US" sz="2000" dirty="0" smtClean="0">
                <a:solidFill>
                  <a:srgbClr val="FF0000"/>
                </a:solidFill>
              </a:rPr>
              <a:t>本课程所有的和汇编语言相关的知识都基于</a:t>
            </a:r>
            <a:r>
              <a:rPr lang="en-US" altLang="zh-CN" sz="2000" dirty="0" smtClean="0">
                <a:solidFill>
                  <a:srgbClr val="FF0000"/>
                </a:solidFill>
              </a:rPr>
              <a:t>8086</a:t>
            </a:r>
            <a:r>
              <a:rPr lang="zh-CN" altLang="en-US" sz="2000" dirty="0" smtClean="0">
                <a:solidFill>
                  <a:srgbClr val="FF0000"/>
                </a:solidFill>
              </a:rPr>
              <a:t>架构</a:t>
            </a:r>
            <a:r>
              <a:rPr lang="en-US" altLang="zh-CN" sz="2000" dirty="0" smtClean="0">
                <a:solidFill>
                  <a:srgbClr val="FF0000"/>
                </a:solidFill>
              </a:rPr>
              <a:t>CPU</a:t>
            </a:r>
            <a:r>
              <a:rPr lang="zh-CN" altLang="en-US" sz="2000" dirty="0" smtClean="0">
                <a:solidFill>
                  <a:srgbClr val="FF0000"/>
                </a:solidFill>
              </a:rPr>
              <a:t>，即只使用</a:t>
            </a:r>
            <a:r>
              <a:rPr lang="en-US" altLang="zh-CN" sz="2000" dirty="0" smtClean="0">
                <a:solidFill>
                  <a:srgbClr val="FF0000"/>
                </a:solidFill>
              </a:rPr>
              <a:t>16</a:t>
            </a:r>
            <a:r>
              <a:rPr lang="zh-CN" altLang="en-US" sz="2000" dirty="0" smtClean="0">
                <a:solidFill>
                  <a:srgbClr val="FF0000"/>
                </a:solidFill>
              </a:rPr>
              <a:t>位寄存器</a:t>
            </a:r>
            <a:r>
              <a:rPr lang="en-US" altLang="zh-CN" sz="2000" dirty="0" smtClean="0">
                <a:solidFill>
                  <a:srgbClr val="FF0000"/>
                </a:solidFill>
              </a:rPr>
              <a:t>AX,BX,CX,DX,SP,BP,SI,DI</a:t>
            </a:r>
            <a:r>
              <a:rPr lang="zh-CN" altLang="en-US" sz="2000" dirty="0" smtClean="0">
                <a:solidFill>
                  <a:srgbClr val="FF0000"/>
                </a:solidFill>
              </a:rPr>
              <a:t>，</a:t>
            </a:r>
            <a:r>
              <a:rPr lang="en-US" altLang="zh-CN" sz="2000" dirty="0" smtClean="0">
                <a:solidFill>
                  <a:srgbClr val="FF0000"/>
                </a:solidFill>
              </a:rPr>
              <a:t>CS,DS,SS,ES,IP</a:t>
            </a:r>
            <a:r>
              <a:rPr lang="zh-CN" altLang="en-US" sz="2000" dirty="0" smtClean="0">
                <a:solidFill>
                  <a:srgbClr val="FF0000"/>
                </a:solidFill>
              </a:rPr>
              <a:t>这几个寄存器，以及</a:t>
            </a:r>
            <a:r>
              <a:rPr lang="en-US" altLang="zh-CN" sz="2000" dirty="0" smtClean="0">
                <a:solidFill>
                  <a:srgbClr val="FF0000"/>
                </a:solidFill>
              </a:rPr>
              <a:t>16</a:t>
            </a:r>
            <a:r>
              <a:rPr lang="zh-CN" altLang="en-US" sz="2000" dirty="0" smtClean="0">
                <a:solidFill>
                  <a:srgbClr val="FF0000"/>
                </a:solidFill>
              </a:rPr>
              <a:t>位总线（即一次数据传输上限只有</a:t>
            </a:r>
            <a:r>
              <a:rPr lang="en-US" altLang="zh-CN" sz="2000" dirty="0" smtClean="0">
                <a:solidFill>
                  <a:srgbClr val="FF0000"/>
                </a:solidFill>
              </a:rPr>
              <a:t>16</a:t>
            </a:r>
            <a:r>
              <a:rPr lang="zh-CN" altLang="en-US" sz="2000" dirty="0" smtClean="0">
                <a:solidFill>
                  <a:srgbClr val="FF0000"/>
                </a:solidFill>
              </a:rPr>
              <a:t>位）</a:t>
            </a:r>
            <a:endParaRPr lang="en-US" altLang="zh-CN" sz="2000" dirty="0" smtClean="0">
              <a:solidFill>
                <a:srgbClr val="FF0000"/>
              </a:solidFill>
            </a:endParaRPr>
          </a:p>
          <a:p>
            <a:r>
              <a:rPr lang="zh-CN" altLang="en-US" sz="2000" dirty="0" smtClean="0">
                <a:solidFill>
                  <a:srgbClr val="FF0000"/>
                </a:solidFill>
              </a:rPr>
              <a:t>逻辑地址、物理地址、基地址和偏移地址的关系</a:t>
            </a:r>
            <a:endParaRPr lang="en-US" altLang="zh-CN" sz="2000" dirty="0" smtClean="0">
              <a:solidFill>
                <a:srgbClr val="FF0000"/>
              </a:solidFill>
            </a:endParaRPr>
          </a:p>
          <a:p>
            <a:pPr marL="0" indent="0">
              <a:buNone/>
            </a:pPr>
            <a:r>
              <a:rPr lang="en-US" altLang="zh-CN" sz="2000" dirty="0" smtClean="0">
                <a:solidFill>
                  <a:srgbClr val="FF0000"/>
                </a:solidFill>
              </a:rPr>
              <a:t>8086</a:t>
            </a:r>
            <a:r>
              <a:rPr lang="zh-CN" altLang="en-US" sz="2000" dirty="0" smtClean="0">
                <a:solidFill>
                  <a:srgbClr val="FF0000"/>
                </a:solidFill>
              </a:rPr>
              <a:t>主存地址形成中说明了，由于</a:t>
            </a:r>
            <a:r>
              <a:rPr lang="en-US" altLang="zh-CN" sz="2000" dirty="0" smtClean="0">
                <a:solidFill>
                  <a:srgbClr val="FF0000"/>
                </a:solidFill>
              </a:rPr>
              <a:t>8086</a:t>
            </a:r>
            <a:r>
              <a:rPr lang="zh-CN" altLang="en-US" sz="2000" dirty="0" smtClean="0">
                <a:solidFill>
                  <a:srgbClr val="FF0000"/>
                </a:solidFill>
              </a:rPr>
              <a:t>架构</a:t>
            </a:r>
            <a:r>
              <a:rPr lang="en-US" altLang="zh-CN" sz="2000" dirty="0" smtClean="0">
                <a:solidFill>
                  <a:srgbClr val="FF0000"/>
                </a:solidFill>
              </a:rPr>
              <a:t>CPU</a:t>
            </a:r>
            <a:r>
              <a:rPr lang="zh-CN" altLang="en-US" sz="2000" dirty="0" smtClean="0">
                <a:solidFill>
                  <a:srgbClr val="FF0000"/>
                </a:solidFill>
              </a:rPr>
              <a:t>可以支持</a:t>
            </a:r>
            <a:r>
              <a:rPr lang="en-US" altLang="zh-CN" sz="2000" dirty="0" smtClean="0">
                <a:solidFill>
                  <a:srgbClr val="FF0000"/>
                </a:solidFill>
              </a:rPr>
              <a:t>1M</a:t>
            </a:r>
            <a:r>
              <a:rPr lang="zh-CN" altLang="en-US" sz="2000" dirty="0" smtClean="0">
                <a:solidFill>
                  <a:srgbClr val="FF0000"/>
                </a:solidFill>
              </a:rPr>
              <a:t>主存，即</a:t>
            </a:r>
            <a:r>
              <a:rPr lang="en-US" altLang="zh-CN" sz="2000" dirty="0" smtClean="0">
                <a:solidFill>
                  <a:srgbClr val="FF0000"/>
                </a:solidFill>
              </a:rPr>
              <a:t>2^20</a:t>
            </a:r>
            <a:r>
              <a:rPr lang="zh-CN" altLang="en-US" sz="2000" dirty="0" smtClean="0">
                <a:solidFill>
                  <a:srgbClr val="FF0000"/>
                </a:solidFill>
              </a:rPr>
              <a:t>次方个主存单元，既然每个主存单元对应一个主存地址，那么主存地址也有</a:t>
            </a:r>
            <a:r>
              <a:rPr lang="en-US" altLang="zh-CN" sz="2000" dirty="0" smtClean="0">
                <a:solidFill>
                  <a:srgbClr val="FF0000"/>
                </a:solidFill>
              </a:rPr>
              <a:t>2^20</a:t>
            </a:r>
            <a:r>
              <a:rPr lang="zh-CN" altLang="en-US" sz="2000" dirty="0" smtClean="0">
                <a:solidFill>
                  <a:srgbClr val="FF0000"/>
                </a:solidFill>
              </a:rPr>
              <a:t>次方个，需要用</a:t>
            </a:r>
            <a:r>
              <a:rPr lang="en-US" altLang="zh-CN" sz="2000" dirty="0" smtClean="0">
                <a:solidFill>
                  <a:srgbClr val="FF0000"/>
                </a:solidFill>
              </a:rPr>
              <a:t>20</a:t>
            </a:r>
            <a:r>
              <a:rPr lang="zh-CN" altLang="en-US" sz="2000" dirty="0" smtClean="0">
                <a:solidFill>
                  <a:srgbClr val="FF0000"/>
                </a:solidFill>
              </a:rPr>
              <a:t>位二进制数来表示全部主存地址。</a:t>
            </a:r>
            <a:endParaRPr lang="en-US" altLang="zh-CN" sz="2000" dirty="0" smtClean="0">
              <a:solidFill>
                <a:srgbClr val="FF0000"/>
              </a:solidFill>
            </a:endParaRPr>
          </a:p>
          <a:p>
            <a:pPr marL="0" indent="0">
              <a:buNone/>
            </a:pPr>
            <a:r>
              <a:rPr lang="zh-CN" altLang="en-US" sz="2000" dirty="0" smtClean="0">
                <a:solidFill>
                  <a:srgbClr val="FF0000"/>
                </a:solidFill>
              </a:rPr>
              <a:t>但是，问题来了，由于</a:t>
            </a:r>
            <a:r>
              <a:rPr lang="en-US" altLang="zh-CN" sz="2000" dirty="0" smtClean="0">
                <a:solidFill>
                  <a:srgbClr val="FF0000"/>
                </a:solidFill>
              </a:rPr>
              <a:t>CPU</a:t>
            </a:r>
            <a:r>
              <a:rPr lang="zh-CN" altLang="en-US" sz="2000" dirty="0" smtClean="0">
                <a:solidFill>
                  <a:srgbClr val="FF0000"/>
                </a:solidFill>
              </a:rPr>
              <a:t>中的所有寄存器都是</a:t>
            </a:r>
            <a:r>
              <a:rPr lang="en-US" altLang="zh-CN" sz="2000" dirty="0" smtClean="0">
                <a:solidFill>
                  <a:srgbClr val="FF0000"/>
                </a:solidFill>
              </a:rPr>
              <a:t>16</a:t>
            </a:r>
            <a:r>
              <a:rPr lang="zh-CN" altLang="en-US" sz="2000" dirty="0" smtClean="0">
                <a:solidFill>
                  <a:srgbClr val="FF0000"/>
                </a:solidFill>
              </a:rPr>
              <a:t>位的，怎么使用</a:t>
            </a:r>
            <a:r>
              <a:rPr lang="en-US" altLang="zh-CN" sz="2000" dirty="0" smtClean="0">
                <a:solidFill>
                  <a:srgbClr val="FF0000"/>
                </a:solidFill>
              </a:rPr>
              <a:t>16</a:t>
            </a:r>
            <a:r>
              <a:rPr lang="zh-CN" altLang="en-US" sz="2000" dirty="0" smtClean="0">
                <a:solidFill>
                  <a:srgbClr val="FF0000"/>
                </a:solidFill>
              </a:rPr>
              <a:t>位寄存器表示</a:t>
            </a:r>
            <a:r>
              <a:rPr lang="en-US" altLang="zh-CN" sz="2000" dirty="0" smtClean="0">
                <a:solidFill>
                  <a:srgbClr val="FF0000"/>
                </a:solidFill>
              </a:rPr>
              <a:t>20</a:t>
            </a:r>
            <a:r>
              <a:rPr lang="zh-CN" altLang="en-US" sz="2000" dirty="0" smtClean="0">
                <a:solidFill>
                  <a:srgbClr val="FF0000"/>
                </a:solidFill>
              </a:rPr>
              <a:t>位的主存地址呢？所以需要两个寄存器，一个寄存器表示基地址，即记录数据段（使用段地址寄存器</a:t>
            </a:r>
            <a:r>
              <a:rPr lang="en-US" altLang="zh-CN" sz="2000" dirty="0" smtClean="0">
                <a:solidFill>
                  <a:srgbClr val="FF0000"/>
                </a:solidFill>
              </a:rPr>
              <a:t>DS</a:t>
            </a:r>
            <a:r>
              <a:rPr lang="zh-CN" altLang="en-US" sz="2000" dirty="0" smtClean="0">
                <a:solidFill>
                  <a:srgbClr val="FF0000"/>
                </a:solidFill>
              </a:rPr>
              <a:t>）和代码段的起始地址（使用段地址寄存器</a:t>
            </a:r>
            <a:r>
              <a:rPr lang="en-US" altLang="zh-CN" sz="2000" dirty="0" smtClean="0">
                <a:solidFill>
                  <a:srgbClr val="FF0000"/>
                </a:solidFill>
              </a:rPr>
              <a:t>CS</a:t>
            </a:r>
            <a:r>
              <a:rPr lang="zh-CN" altLang="en-US" sz="2000" dirty="0" smtClean="0">
                <a:solidFill>
                  <a:srgbClr val="FF0000"/>
                </a:solidFill>
              </a:rPr>
              <a:t>），但不是记录原始值，需要一个处理，马上就说明。另一个寄存器表示偏移地址，偏移地址即数据所在内存单元地址相对于起始地址的距离，即数据所在内存单元地址减去起始地址。逻辑地址的表示方式为：基地址</a:t>
            </a:r>
            <a:r>
              <a:rPr lang="en-US" altLang="zh-CN" sz="2000" dirty="0" smtClean="0">
                <a:solidFill>
                  <a:srgbClr val="FF0000"/>
                </a:solidFill>
              </a:rPr>
              <a:t>:</a:t>
            </a:r>
            <a:r>
              <a:rPr lang="zh-CN" altLang="en-US" sz="2000" dirty="0" smtClean="0">
                <a:solidFill>
                  <a:srgbClr val="FF0000"/>
                </a:solidFill>
              </a:rPr>
              <a:t>偏移地址</a:t>
            </a:r>
            <a:endParaRPr lang="en-US" altLang="zh-CN" sz="2000" dirty="0" smtClean="0">
              <a:solidFill>
                <a:srgbClr val="FF0000"/>
              </a:solidFill>
            </a:endParaRPr>
          </a:p>
        </p:txBody>
      </p:sp>
    </p:spTree>
    <p:extLst>
      <p:ext uri="{BB962C8B-B14F-4D97-AF65-F5344CB8AC3E}">
        <p14:creationId xmlns:p14="http://schemas.microsoft.com/office/powerpoint/2010/main" val="7742921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第四章一些技术细节（看 完 这 些 还 是 要 看 书！）</a:t>
            </a:r>
            <a:endParaRPr lang="zh-CN" altLang="en-US" dirty="0"/>
          </a:p>
        </p:txBody>
      </p:sp>
      <p:sp>
        <p:nvSpPr>
          <p:cNvPr id="3" name="内容占位符 2"/>
          <p:cNvSpPr>
            <a:spLocks noGrp="1"/>
          </p:cNvSpPr>
          <p:nvPr>
            <p:ph idx="1"/>
          </p:nvPr>
        </p:nvSpPr>
        <p:spPr>
          <a:xfrm>
            <a:off x="838200" y="1825624"/>
            <a:ext cx="10515600" cy="4739767"/>
          </a:xfrm>
        </p:spPr>
        <p:txBody>
          <a:bodyPr>
            <a:normAutofit/>
          </a:bodyPr>
          <a:lstStyle/>
          <a:p>
            <a:pPr marL="0" indent="0">
              <a:buNone/>
            </a:pPr>
            <a:r>
              <a:rPr lang="zh-CN" altLang="en-US" sz="2000" dirty="0" smtClean="0">
                <a:solidFill>
                  <a:srgbClr val="FF0000"/>
                </a:solidFill>
              </a:rPr>
              <a:t>物理地址即真实的内存地址，和逻辑地址的关系是基地址左移</a:t>
            </a:r>
            <a:r>
              <a:rPr lang="en-US" altLang="zh-CN" sz="2000" dirty="0" smtClean="0">
                <a:solidFill>
                  <a:srgbClr val="FF0000"/>
                </a:solidFill>
              </a:rPr>
              <a:t>4</a:t>
            </a:r>
            <a:r>
              <a:rPr lang="zh-CN" altLang="en-US" sz="2000" dirty="0" smtClean="0">
                <a:solidFill>
                  <a:srgbClr val="FF0000"/>
                </a:solidFill>
              </a:rPr>
              <a:t>位，加上偏移地址。二进制数左移四位相当于乘以</a:t>
            </a:r>
            <a:r>
              <a:rPr lang="en-US" altLang="zh-CN" sz="2000" dirty="0" smtClean="0">
                <a:solidFill>
                  <a:srgbClr val="FF0000"/>
                </a:solidFill>
              </a:rPr>
              <a:t>2^4</a:t>
            </a:r>
            <a:r>
              <a:rPr lang="zh-CN" altLang="en-US" sz="2000" dirty="0" smtClean="0">
                <a:solidFill>
                  <a:srgbClr val="FF0000"/>
                </a:solidFill>
              </a:rPr>
              <a:t>，即乘以</a:t>
            </a:r>
            <a:r>
              <a:rPr lang="en-US" altLang="zh-CN" sz="2000" dirty="0" smtClean="0">
                <a:solidFill>
                  <a:srgbClr val="FF0000"/>
                </a:solidFill>
              </a:rPr>
              <a:t>16</a:t>
            </a:r>
            <a:r>
              <a:rPr lang="zh-CN" altLang="en-US" sz="2000" dirty="0" smtClean="0">
                <a:solidFill>
                  <a:srgbClr val="FF0000"/>
                </a:solidFill>
              </a:rPr>
              <a:t>（十六进制的</a:t>
            </a:r>
            <a:r>
              <a:rPr lang="en-US" altLang="zh-CN" sz="2000" dirty="0" smtClean="0">
                <a:solidFill>
                  <a:srgbClr val="FF0000"/>
                </a:solidFill>
              </a:rPr>
              <a:t>10H</a:t>
            </a:r>
            <a:r>
              <a:rPr lang="zh-CN" altLang="en-US" sz="2000" dirty="0" smtClean="0">
                <a:solidFill>
                  <a:srgbClr val="FF0000"/>
                </a:solidFill>
              </a:rPr>
              <a:t>），所以物理地址和逻辑地址的关系是</a:t>
            </a:r>
          </a:p>
          <a:p>
            <a:pPr marL="0" indent="0" algn="ctr">
              <a:buNone/>
            </a:pPr>
            <a:r>
              <a:rPr lang="zh-CN" altLang="en-US" sz="2000" dirty="0" smtClean="0">
                <a:solidFill>
                  <a:srgbClr val="FF0000"/>
                </a:solidFill>
              </a:rPr>
              <a:t>物理地址</a:t>
            </a:r>
            <a:r>
              <a:rPr lang="en-US" altLang="zh-CN" sz="2000" dirty="0" smtClean="0">
                <a:solidFill>
                  <a:srgbClr val="FF0000"/>
                </a:solidFill>
              </a:rPr>
              <a:t> = </a:t>
            </a:r>
            <a:r>
              <a:rPr lang="zh-CN" altLang="en-US" sz="2000" dirty="0" smtClean="0">
                <a:solidFill>
                  <a:srgbClr val="FF0000"/>
                </a:solidFill>
              </a:rPr>
              <a:t>基地址</a:t>
            </a:r>
            <a:r>
              <a:rPr lang="en-US" altLang="zh-CN" sz="2000" dirty="0" smtClean="0">
                <a:solidFill>
                  <a:srgbClr val="FF0000"/>
                </a:solidFill>
              </a:rPr>
              <a:t>*10H + </a:t>
            </a:r>
            <a:r>
              <a:rPr lang="zh-CN" altLang="en-US" sz="2000" dirty="0" smtClean="0">
                <a:solidFill>
                  <a:srgbClr val="FF0000"/>
                </a:solidFill>
              </a:rPr>
              <a:t>偏移地址。</a:t>
            </a:r>
          </a:p>
          <a:p>
            <a:pPr marL="0" indent="0">
              <a:buNone/>
            </a:pPr>
            <a:r>
              <a:rPr lang="zh-CN" altLang="en-US" sz="2000" dirty="0" smtClean="0">
                <a:solidFill>
                  <a:srgbClr val="FF0000"/>
                </a:solidFill>
              </a:rPr>
              <a:t>所以，段地址寄存器</a:t>
            </a:r>
            <a:r>
              <a:rPr lang="en-US" altLang="zh-CN" sz="2000" dirty="0" smtClean="0">
                <a:solidFill>
                  <a:srgbClr val="FF0000"/>
                </a:solidFill>
              </a:rPr>
              <a:t>DS</a:t>
            </a:r>
            <a:r>
              <a:rPr lang="zh-CN" altLang="en-US" sz="2000" dirty="0" smtClean="0">
                <a:solidFill>
                  <a:srgbClr val="FF0000"/>
                </a:solidFill>
              </a:rPr>
              <a:t>和</a:t>
            </a:r>
            <a:r>
              <a:rPr lang="en-US" altLang="zh-CN" sz="2000" dirty="0" smtClean="0">
                <a:solidFill>
                  <a:srgbClr val="FF0000"/>
                </a:solidFill>
              </a:rPr>
              <a:t>CS</a:t>
            </a:r>
            <a:r>
              <a:rPr lang="zh-CN" altLang="en-US" sz="2000" dirty="0" smtClean="0">
                <a:solidFill>
                  <a:srgbClr val="FF0000"/>
                </a:solidFill>
              </a:rPr>
              <a:t>中存放的基地址，是真实数据段和代码段的起始地址除以</a:t>
            </a:r>
            <a:r>
              <a:rPr lang="en-US" altLang="zh-CN" sz="2000" dirty="0" smtClean="0">
                <a:solidFill>
                  <a:srgbClr val="FF0000"/>
                </a:solidFill>
              </a:rPr>
              <a:t>10H</a:t>
            </a:r>
            <a:r>
              <a:rPr lang="zh-CN" altLang="en-US" sz="2000" dirty="0" smtClean="0">
                <a:solidFill>
                  <a:srgbClr val="FF0000"/>
                </a:solidFill>
              </a:rPr>
              <a:t>。</a:t>
            </a:r>
          </a:p>
          <a:p>
            <a:pPr marL="0" indent="0">
              <a:buNone/>
            </a:pPr>
            <a:r>
              <a:rPr lang="zh-CN" altLang="en-US" sz="2000" dirty="0" smtClean="0">
                <a:solidFill>
                  <a:srgbClr val="FF0000"/>
                </a:solidFill>
              </a:rPr>
              <a:t>汇编指令中用的数据地址全部是偏移地址，计算机根据</a:t>
            </a:r>
            <a:r>
              <a:rPr lang="en-US" altLang="zh-CN" sz="2000" dirty="0" smtClean="0">
                <a:solidFill>
                  <a:srgbClr val="FF0000"/>
                </a:solidFill>
              </a:rPr>
              <a:t>DS</a:t>
            </a:r>
            <a:r>
              <a:rPr lang="zh-CN" altLang="en-US" sz="2000" dirty="0" smtClean="0">
                <a:solidFill>
                  <a:srgbClr val="FF0000"/>
                </a:solidFill>
              </a:rPr>
              <a:t>的值和指令中给出的偏移地址找到内存真实物理地址中的数据！而程序要执行下一条指令时，根据</a:t>
            </a:r>
            <a:r>
              <a:rPr lang="en-US" altLang="zh-CN" sz="2000" dirty="0" smtClean="0">
                <a:solidFill>
                  <a:srgbClr val="FF0000"/>
                </a:solidFill>
              </a:rPr>
              <a:t>IP</a:t>
            </a:r>
            <a:r>
              <a:rPr lang="zh-CN" altLang="en-US" sz="2000" dirty="0" smtClean="0">
                <a:solidFill>
                  <a:srgbClr val="FF0000"/>
                </a:solidFill>
              </a:rPr>
              <a:t>寄存器的偏移地址和</a:t>
            </a:r>
            <a:r>
              <a:rPr lang="en-US" altLang="zh-CN" sz="2000" dirty="0" smtClean="0">
                <a:solidFill>
                  <a:srgbClr val="FF0000"/>
                </a:solidFill>
              </a:rPr>
              <a:t>CS</a:t>
            </a:r>
            <a:r>
              <a:rPr lang="zh-CN" altLang="en-US" sz="2000" dirty="0" smtClean="0">
                <a:solidFill>
                  <a:srgbClr val="FF0000"/>
                </a:solidFill>
              </a:rPr>
              <a:t>寄存器中的基地址，找到下一条要执行的指令在内存中的位置并读入</a:t>
            </a:r>
            <a:r>
              <a:rPr lang="en-US" altLang="zh-CN" sz="2000" dirty="0" smtClean="0">
                <a:solidFill>
                  <a:srgbClr val="FF0000"/>
                </a:solidFill>
              </a:rPr>
              <a:t>CPU</a:t>
            </a:r>
          </a:p>
          <a:p>
            <a:r>
              <a:rPr lang="zh-CN" altLang="en-US" sz="2000" dirty="0" smtClean="0">
                <a:solidFill>
                  <a:srgbClr val="FF0000"/>
                </a:solidFill>
              </a:rPr>
              <a:t>思考题： 已知汇编语言的数据段载入内存中，起始物理地址是</a:t>
            </a:r>
            <a:r>
              <a:rPr lang="en-US" altLang="zh-CN" sz="2000" dirty="0" smtClean="0">
                <a:solidFill>
                  <a:srgbClr val="FF0000"/>
                </a:solidFill>
              </a:rPr>
              <a:t>2000H</a:t>
            </a:r>
            <a:r>
              <a:rPr lang="zh-CN" altLang="en-US" sz="2000" dirty="0" smtClean="0">
                <a:solidFill>
                  <a:srgbClr val="FF0000"/>
                </a:solidFill>
              </a:rPr>
              <a:t>，代码段载入内存中的起始物理地址是</a:t>
            </a:r>
            <a:r>
              <a:rPr lang="en-US" altLang="zh-CN" sz="2000" dirty="0" smtClean="0">
                <a:solidFill>
                  <a:srgbClr val="FF0000"/>
                </a:solidFill>
              </a:rPr>
              <a:t>3000H</a:t>
            </a:r>
            <a:r>
              <a:rPr lang="zh-CN" altLang="en-US" sz="2000" dirty="0" smtClean="0">
                <a:solidFill>
                  <a:srgbClr val="FF0000"/>
                </a:solidFill>
              </a:rPr>
              <a:t>。请问</a:t>
            </a:r>
            <a:r>
              <a:rPr lang="en-US" altLang="zh-CN" sz="2000" dirty="0" smtClean="0">
                <a:solidFill>
                  <a:srgbClr val="FF0000"/>
                </a:solidFill>
              </a:rPr>
              <a:t>DS</a:t>
            </a:r>
            <a:r>
              <a:rPr lang="zh-CN" altLang="en-US" sz="2000" dirty="0" smtClean="0">
                <a:solidFill>
                  <a:srgbClr val="FF0000"/>
                </a:solidFill>
              </a:rPr>
              <a:t>和</a:t>
            </a:r>
            <a:r>
              <a:rPr lang="en-US" altLang="zh-CN" sz="2000" dirty="0" smtClean="0">
                <a:solidFill>
                  <a:srgbClr val="FF0000"/>
                </a:solidFill>
              </a:rPr>
              <a:t>CS</a:t>
            </a:r>
            <a:r>
              <a:rPr lang="zh-CN" altLang="en-US" sz="2000" dirty="0" smtClean="0">
                <a:solidFill>
                  <a:srgbClr val="FF0000"/>
                </a:solidFill>
              </a:rPr>
              <a:t>的值分别是多少？</a:t>
            </a:r>
          </a:p>
          <a:p>
            <a:pPr marL="0" indent="0">
              <a:buNone/>
            </a:pPr>
            <a:r>
              <a:rPr lang="en-US" altLang="zh-CN" sz="2000" dirty="0" smtClean="0">
                <a:solidFill>
                  <a:srgbClr val="FF0000"/>
                </a:solidFill>
              </a:rPr>
              <a:t>MOV AL,[10H] </a:t>
            </a:r>
            <a:r>
              <a:rPr lang="zh-CN" altLang="en-US" sz="2000" dirty="0" smtClean="0">
                <a:solidFill>
                  <a:srgbClr val="FF0000"/>
                </a:solidFill>
              </a:rPr>
              <a:t>是读取哪个内存单元的数据？</a:t>
            </a:r>
          </a:p>
          <a:p>
            <a:pPr marL="0" indent="0">
              <a:buNone/>
            </a:pPr>
            <a:r>
              <a:rPr lang="zh-CN" altLang="en-US" sz="2000" dirty="0" smtClean="0">
                <a:solidFill>
                  <a:srgbClr val="FF0000"/>
                </a:solidFill>
              </a:rPr>
              <a:t>已知</a:t>
            </a:r>
            <a:r>
              <a:rPr lang="en-US" altLang="zh-CN" sz="2000" dirty="0" smtClean="0">
                <a:solidFill>
                  <a:srgbClr val="FF0000"/>
                </a:solidFill>
              </a:rPr>
              <a:t>IP</a:t>
            </a:r>
            <a:r>
              <a:rPr lang="zh-CN" altLang="en-US" sz="2000" dirty="0" smtClean="0">
                <a:solidFill>
                  <a:srgbClr val="FF0000"/>
                </a:solidFill>
              </a:rPr>
              <a:t>的值为</a:t>
            </a:r>
            <a:r>
              <a:rPr lang="en-US" altLang="zh-CN" sz="2000" dirty="0" smtClean="0">
                <a:solidFill>
                  <a:srgbClr val="FF0000"/>
                </a:solidFill>
              </a:rPr>
              <a:t>100H</a:t>
            </a:r>
            <a:r>
              <a:rPr lang="zh-CN" altLang="en-US" sz="2000" dirty="0" smtClean="0">
                <a:solidFill>
                  <a:srgbClr val="FF0000"/>
                </a:solidFill>
              </a:rPr>
              <a:t>，请问计算机下一条要执行的指令在内存的哪个单元？</a:t>
            </a:r>
          </a:p>
          <a:p>
            <a:pPr marL="0" indent="0">
              <a:buNone/>
            </a:pPr>
            <a:endParaRPr lang="zh-CN" altLang="en-US" sz="2000" dirty="0" smtClean="0">
              <a:solidFill>
                <a:srgbClr val="FF0000"/>
              </a:solidFill>
            </a:endParaRPr>
          </a:p>
          <a:p>
            <a:endParaRPr lang="en-US" altLang="zh-CN" sz="2000" dirty="0" smtClean="0"/>
          </a:p>
        </p:txBody>
      </p:sp>
    </p:spTree>
    <p:extLst>
      <p:ext uri="{BB962C8B-B14F-4D97-AF65-F5344CB8AC3E}">
        <p14:creationId xmlns:p14="http://schemas.microsoft.com/office/powerpoint/2010/main" val="1124022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第四章一些技术细节（看 完 这 些 还 是 要 看 书！）</a:t>
            </a:r>
            <a:endParaRPr lang="zh-CN" altLang="en-US" dirty="0"/>
          </a:p>
        </p:txBody>
      </p:sp>
      <p:sp>
        <p:nvSpPr>
          <p:cNvPr id="3" name="内容占位符 2"/>
          <p:cNvSpPr>
            <a:spLocks noGrp="1"/>
          </p:cNvSpPr>
          <p:nvPr>
            <p:ph idx="1"/>
          </p:nvPr>
        </p:nvSpPr>
        <p:spPr>
          <a:xfrm>
            <a:off x="838200" y="1825624"/>
            <a:ext cx="10515600" cy="4739767"/>
          </a:xfrm>
        </p:spPr>
        <p:txBody>
          <a:bodyPr>
            <a:normAutofit lnSpcReduction="10000"/>
          </a:bodyPr>
          <a:lstStyle/>
          <a:p>
            <a:r>
              <a:rPr lang="zh-CN" altLang="en-US" sz="2000" dirty="0" smtClean="0">
                <a:solidFill>
                  <a:srgbClr val="FF0000"/>
                </a:solidFill>
              </a:rPr>
              <a:t>段寄存器</a:t>
            </a:r>
          </a:p>
          <a:p>
            <a:pPr marL="0" indent="0">
              <a:buNone/>
            </a:pPr>
            <a:r>
              <a:rPr lang="zh-CN" altLang="en-US" sz="2000" dirty="0" smtClean="0">
                <a:solidFill>
                  <a:srgbClr val="FF0000"/>
                </a:solidFill>
              </a:rPr>
              <a:t>段寄存器有</a:t>
            </a:r>
            <a:r>
              <a:rPr lang="en-US" altLang="zh-CN" sz="2000" dirty="0" smtClean="0">
                <a:solidFill>
                  <a:srgbClr val="FF0000"/>
                </a:solidFill>
              </a:rPr>
              <a:t>CS,DS,SS,ES</a:t>
            </a:r>
            <a:r>
              <a:rPr lang="zh-CN" altLang="en-US" sz="2000" dirty="0" smtClean="0">
                <a:solidFill>
                  <a:srgbClr val="FF0000"/>
                </a:solidFill>
              </a:rPr>
              <a:t>这四个，本学期仅要求理解</a:t>
            </a:r>
            <a:r>
              <a:rPr lang="en-US" altLang="zh-CN" sz="2000" dirty="0" smtClean="0">
                <a:solidFill>
                  <a:srgbClr val="FF0000"/>
                </a:solidFill>
              </a:rPr>
              <a:t>CS</a:t>
            </a:r>
            <a:r>
              <a:rPr lang="zh-CN" altLang="en-US" sz="2000" dirty="0" smtClean="0">
                <a:solidFill>
                  <a:srgbClr val="FF0000"/>
                </a:solidFill>
              </a:rPr>
              <a:t>和</a:t>
            </a:r>
            <a:r>
              <a:rPr lang="en-US" altLang="zh-CN" sz="2000" dirty="0" smtClean="0">
                <a:solidFill>
                  <a:srgbClr val="FF0000"/>
                </a:solidFill>
              </a:rPr>
              <a:t>DS</a:t>
            </a:r>
            <a:r>
              <a:rPr lang="zh-CN" altLang="en-US" sz="2000" dirty="0" smtClean="0">
                <a:solidFill>
                  <a:srgbClr val="FF0000"/>
                </a:solidFill>
              </a:rPr>
              <a:t>，即代码段寄存器和数据段寄存器，前面已经说过了，这两个寄存器是用来存放代码段起始地址</a:t>
            </a:r>
            <a:r>
              <a:rPr lang="en-US" altLang="zh-CN" sz="2000" dirty="0" smtClean="0">
                <a:solidFill>
                  <a:srgbClr val="FF0000"/>
                </a:solidFill>
              </a:rPr>
              <a:t>/10H</a:t>
            </a:r>
            <a:r>
              <a:rPr lang="zh-CN" altLang="en-US" sz="2000" dirty="0" smtClean="0">
                <a:solidFill>
                  <a:srgbClr val="FF0000"/>
                </a:solidFill>
              </a:rPr>
              <a:t>和数据段起始地址</a:t>
            </a:r>
            <a:r>
              <a:rPr lang="en-US" altLang="zh-CN" sz="2000" dirty="0" smtClean="0">
                <a:solidFill>
                  <a:srgbClr val="FF0000"/>
                </a:solidFill>
              </a:rPr>
              <a:t>/10H</a:t>
            </a:r>
            <a:r>
              <a:rPr lang="zh-CN" altLang="en-US" sz="2000" dirty="0" smtClean="0">
                <a:solidFill>
                  <a:srgbClr val="FF0000"/>
                </a:solidFill>
              </a:rPr>
              <a:t>的，所有汇编指令仅给出数据偏移地址，并根据</a:t>
            </a:r>
            <a:r>
              <a:rPr lang="en-US" altLang="zh-CN" sz="2000" dirty="0" smtClean="0">
                <a:solidFill>
                  <a:srgbClr val="FF0000"/>
                </a:solidFill>
              </a:rPr>
              <a:t>DS</a:t>
            </a:r>
            <a:r>
              <a:rPr lang="zh-CN" altLang="en-US" sz="2000" dirty="0" smtClean="0">
                <a:solidFill>
                  <a:srgbClr val="FF0000"/>
                </a:solidFill>
              </a:rPr>
              <a:t>定位数据基地址。</a:t>
            </a:r>
            <a:endParaRPr lang="en-US" altLang="zh-CN" sz="2000" dirty="0" smtClean="0">
              <a:solidFill>
                <a:srgbClr val="FF0000"/>
              </a:solidFill>
            </a:endParaRPr>
          </a:p>
          <a:p>
            <a:r>
              <a:rPr lang="zh-CN" altLang="en-US" sz="2000" dirty="0">
                <a:solidFill>
                  <a:srgbClr val="FF0000"/>
                </a:solidFill>
              </a:rPr>
              <a:t>内存</a:t>
            </a:r>
            <a:r>
              <a:rPr lang="zh-CN" altLang="en-US" sz="2000" dirty="0" smtClean="0">
                <a:solidFill>
                  <a:srgbClr val="FF0000"/>
                </a:solidFill>
              </a:rPr>
              <a:t>数据存储和读取的原则</a:t>
            </a:r>
          </a:p>
          <a:p>
            <a:pPr marL="0" indent="0">
              <a:buNone/>
            </a:pPr>
            <a:r>
              <a:rPr lang="zh-CN" altLang="en-US" sz="2000" dirty="0" smtClean="0">
                <a:solidFill>
                  <a:srgbClr val="FF0000"/>
                </a:solidFill>
              </a:rPr>
              <a:t>第一章要点已经说到了，一个内存地址对应一个内存单元，而且一个内存单元只有</a:t>
            </a:r>
            <a:r>
              <a:rPr lang="en-US" altLang="zh-CN" sz="2000" dirty="0" smtClean="0">
                <a:solidFill>
                  <a:srgbClr val="FF0000"/>
                </a:solidFill>
              </a:rPr>
              <a:t>8</a:t>
            </a:r>
            <a:r>
              <a:rPr lang="zh-CN" altLang="en-US" sz="2000" dirty="0" smtClean="0">
                <a:solidFill>
                  <a:srgbClr val="FF0000"/>
                </a:solidFill>
              </a:rPr>
              <a:t>位，只能存放一个</a:t>
            </a:r>
            <a:r>
              <a:rPr lang="en-US" altLang="zh-CN" sz="2000" dirty="0" smtClean="0">
                <a:solidFill>
                  <a:srgbClr val="FF0000"/>
                </a:solidFill>
              </a:rPr>
              <a:t>2</a:t>
            </a:r>
            <a:r>
              <a:rPr lang="zh-CN" altLang="en-US" sz="2000" dirty="0" smtClean="0">
                <a:solidFill>
                  <a:srgbClr val="FF0000"/>
                </a:solidFill>
              </a:rPr>
              <a:t>位的十六进制数！那么比</a:t>
            </a:r>
            <a:r>
              <a:rPr lang="en-US" altLang="zh-CN" sz="2000" dirty="0" smtClean="0">
                <a:solidFill>
                  <a:srgbClr val="FF0000"/>
                </a:solidFill>
              </a:rPr>
              <a:t>2</a:t>
            </a:r>
            <a:r>
              <a:rPr lang="zh-CN" altLang="en-US" sz="2000" dirty="0" smtClean="0">
                <a:solidFill>
                  <a:srgbClr val="FF0000"/>
                </a:solidFill>
              </a:rPr>
              <a:t>位十六进制数长的，就需要两个以上内存单元来存。读取一个</a:t>
            </a:r>
            <a:r>
              <a:rPr lang="en-US" altLang="zh-CN" sz="2000" dirty="0" smtClean="0">
                <a:solidFill>
                  <a:srgbClr val="FF0000"/>
                </a:solidFill>
              </a:rPr>
              <a:t>2</a:t>
            </a:r>
            <a:r>
              <a:rPr lang="zh-CN" altLang="en-US" sz="2000" dirty="0" smtClean="0">
                <a:solidFill>
                  <a:srgbClr val="FF0000"/>
                </a:solidFill>
              </a:rPr>
              <a:t>位以上的十六进制数，也需要读取两个内存单元，那么这个存和读，就需要遵循高高低低的原则：</a:t>
            </a:r>
          </a:p>
          <a:p>
            <a:pPr marL="0" indent="0">
              <a:buNone/>
            </a:pPr>
            <a:r>
              <a:rPr lang="zh-CN" altLang="en-US" sz="2000" dirty="0" smtClean="0">
                <a:solidFill>
                  <a:srgbClr val="FF0000"/>
                </a:solidFill>
              </a:rPr>
              <a:t>存数据的时候，低地址存低位数字，高地址存高位数字，从低到高</a:t>
            </a:r>
            <a:r>
              <a:rPr lang="en-US" altLang="zh-CN" sz="2000" dirty="0" smtClean="0">
                <a:solidFill>
                  <a:srgbClr val="FF0000"/>
                </a:solidFill>
              </a:rPr>
              <a:t>2</a:t>
            </a:r>
            <a:r>
              <a:rPr lang="zh-CN" altLang="en-US" sz="2000" dirty="0" smtClean="0">
                <a:solidFill>
                  <a:srgbClr val="FF0000"/>
                </a:solidFill>
              </a:rPr>
              <a:t>位</a:t>
            </a:r>
            <a:r>
              <a:rPr lang="en-US" altLang="zh-CN" sz="2000" dirty="0" smtClean="0">
                <a:solidFill>
                  <a:srgbClr val="FF0000"/>
                </a:solidFill>
              </a:rPr>
              <a:t>2</a:t>
            </a:r>
            <a:r>
              <a:rPr lang="zh-CN" altLang="en-US" sz="2000" dirty="0" smtClean="0">
                <a:solidFill>
                  <a:srgbClr val="FF0000"/>
                </a:solidFill>
              </a:rPr>
              <a:t>位的存。</a:t>
            </a:r>
            <a:endParaRPr lang="en-US" altLang="zh-CN" sz="2000" dirty="0" smtClean="0">
              <a:solidFill>
                <a:srgbClr val="FF0000"/>
              </a:solidFill>
            </a:endParaRPr>
          </a:p>
          <a:p>
            <a:pPr marL="0" indent="0">
              <a:buNone/>
            </a:pPr>
            <a:r>
              <a:rPr lang="zh-CN" altLang="en-US" sz="2000" dirty="0" smtClean="0">
                <a:solidFill>
                  <a:srgbClr val="FF0000"/>
                </a:solidFill>
              </a:rPr>
              <a:t>读数据的时候，也是从低地址往高地址读，低地址读出来的值作为低位，高地址读出来的值作为高位。</a:t>
            </a:r>
            <a:endParaRPr lang="en-US" altLang="zh-CN" sz="2000" dirty="0" smtClean="0">
              <a:solidFill>
                <a:srgbClr val="FF0000"/>
              </a:solidFill>
            </a:endParaRPr>
          </a:p>
          <a:p>
            <a:pPr marL="0" indent="0">
              <a:buNone/>
            </a:pPr>
            <a:r>
              <a:rPr lang="zh-CN" altLang="en-US" sz="2000" dirty="0" smtClean="0">
                <a:solidFill>
                  <a:srgbClr val="FF0000"/>
                </a:solidFill>
              </a:rPr>
              <a:t>存数据和读数据，到底存几个内存单元，读几个内存单元，由指令中另外一个寄存器或者变量的类型决定，</a:t>
            </a:r>
            <a:r>
              <a:rPr lang="en-US" altLang="zh-CN" sz="2000" dirty="0" smtClean="0">
                <a:solidFill>
                  <a:srgbClr val="FF0000"/>
                </a:solidFill>
              </a:rPr>
              <a:t>8</a:t>
            </a:r>
            <a:r>
              <a:rPr lang="zh-CN" altLang="en-US" sz="2000" dirty="0" smtClean="0">
                <a:solidFill>
                  <a:srgbClr val="FF0000"/>
                </a:solidFill>
              </a:rPr>
              <a:t>位寄存器或</a:t>
            </a:r>
            <a:r>
              <a:rPr lang="en-US" altLang="zh-CN" sz="2000" dirty="0" smtClean="0">
                <a:solidFill>
                  <a:srgbClr val="FF0000"/>
                </a:solidFill>
              </a:rPr>
              <a:t>DB</a:t>
            </a:r>
            <a:r>
              <a:rPr lang="zh-CN" altLang="en-US" sz="2000" dirty="0" smtClean="0">
                <a:solidFill>
                  <a:srgbClr val="FF0000"/>
                </a:solidFill>
              </a:rPr>
              <a:t>变量就只读</a:t>
            </a:r>
            <a:r>
              <a:rPr lang="en-US" altLang="zh-CN" sz="2000" dirty="0" smtClean="0">
                <a:solidFill>
                  <a:srgbClr val="FF0000"/>
                </a:solidFill>
              </a:rPr>
              <a:t>/</a:t>
            </a:r>
            <a:r>
              <a:rPr lang="zh-CN" altLang="en-US" sz="2000" dirty="0" smtClean="0">
                <a:solidFill>
                  <a:srgbClr val="FF0000"/>
                </a:solidFill>
              </a:rPr>
              <a:t>写一个内存单元，</a:t>
            </a:r>
            <a:r>
              <a:rPr lang="en-US" altLang="zh-CN" sz="2000" dirty="0" smtClean="0">
                <a:solidFill>
                  <a:srgbClr val="FF0000"/>
                </a:solidFill>
              </a:rPr>
              <a:t>16</a:t>
            </a:r>
            <a:r>
              <a:rPr lang="zh-CN" altLang="en-US" sz="2000" dirty="0" smtClean="0">
                <a:solidFill>
                  <a:srgbClr val="FF0000"/>
                </a:solidFill>
              </a:rPr>
              <a:t>位寄存器或</a:t>
            </a:r>
            <a:r>
              <a:rPr lang="en-US" altLang="zh-CN" sz="2000" dirty="0" smtClean="0">
                <a:solidFill>
                  <a:srgbClr val="FF0000"/>
                </a:solidFill>
              </a:rPr>
              <a:t>DW</a:t>
            </a:r>
            <a:r>
              <a:rPr lang="zh-CN" altLang="en-US" sz="2000" dirty="0" smtClean="0">
                <a:solidFill>
                  <a:srgbClr val="FF0000"/>
                </a:solidFill>
              </a:rPr>
              <a:t>变量读</a:t>
            </a:r>
            <a:r>
              <a:rPr lang="en-US" altLang="zh-CN" sz="2000" dirty="0" smtClean="0">
                <a:solidFill>
                  <a:srgbClr val="FF0000"/>
                </a:solidFill>
              </a:rPr>
              <a:t>/</a:t>
            </a:r>
            <a:r>
              <a:rPr lang="zh-CN" altLang="en-US" sz="2000" dirty="0" smtClean="0">
                <a:solidFill>
                  <a:srgbClr val="FF0000"/>
                </a:solidFill>
              </a:rPr>
              <a:t>写两个单元</a:t>
            </a:r>
          </a:p>
          <a:p>
            <a:pPr marL="0" indent="0">
              <a:buNone/>
            </a:pPr>
            <a:endParaRPr lang="zh-CN" altLang="en-US" sz="2000" dirty="0" smtClean="0"/>
          </a:p>
          <a:p>
            <a:pPr marL="0" indent="0">
              <a:buNone/>
            </a:pPr>
            <a:endParaRPr lang="zh-CN" altLang="en-US" sz="2000" dirty="0" smtClean="0">
              <a:solidFill>
                <a:srgbClr val="FF0000"/>
              </a:solidFill>
            </a:endParaRPr>
          </a:p>
          <a:p>
            <a:endParaRPr lang="en-US" altLang="zh-CN" sz="2000" dirty="0" smtClean="0"/>
          </a:p>
        </p:txBody>
      </p:sp>
    </p:spTree>
    <p:extLst>
      <p:ext uri="{BB962C8B-B14F-4D97-AF65-F5344CB8AC3E}">
        <p14:creationId xmlns:p14="http://schemas.microsoft.com/office/powerpoint/2010/main" val="3857713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第四章一些技术细节（看 完 这 些 还 是 要 看 书！）</a:t>
            </a:r>
            <a:endParaRPr lang="zh-CN" altLang="en-US" dirty="0"/>
          </a:p>
        </p:txBody>
      </p:sp>
      <p:sp>
        <p:nvSpPr>
          <p:cNvPr id="3" name="内容占位符 2"/>
          <p:cNvSpPr>
            <a:spLocks noGrp="1"/>
          </p:cNvSpPr>
          <p:nvPr>
            <p:ph idx="1"/>
          </p:nvPr>
        </p:nvSpPr>
        <p:spPr>
          <a:xfrm>
            <a:off x="838200" y="1825624"/>
            <a:ext cx="10515600" cy="4739767"/>
          </a:xfrm>
        </p:spPr>
        <p:txBody>
          <a:bodyPr>
            <a:normAutofit lnSpcReduction="10000"/>
          </a:bodyPr>
          <a:lstStyle/>
          <a:p>
            <a:r>
              <a:rPr lang="zh-CN" altLang="en-US" sz="2000" dirty="0" smtClean="0">
                <a:solidFill>
                  <a:srgbClr val="FF0000"/>
                </a:solidFill>
              </a:rPr>
              <a:t>乘除法指令</a:t>
            </a:r>
            <a:endParaRPr lang="en-US" altLang="zh-CN" sz="2000" dirty="0" smtClean="0">
              <a:solidFill>
                <a:srgbClr val="FF0000"/>
              </a:solidFill>
            </a:endParaRPr>
          </a:p>
          <a:p>
            <a:pPr marL="0" indent="0">
              <a:buNone/>
            </a:pPr>
            <a:r>
              <a:rPr lang="zh-CN" altLang="en-US" sz="2000" dirty="0" smtClean="0">
                <a:solidFill>
                  <a:srgbClr val="FF0000"/>
                </a:solidFill>
              </a:rPr>
              <a:t>注意乘法指令</a:t>
            </a:r>
            <a:r>
              <a:rPr lang="en-US" altLang="zh-CN" sz="2000" dirty="0" smtClean="0">
                <a:solidFill>
                  <a:srgbClr val="FF0000"/>
                </a:solidFill>
              </a:rPr>
              <a:t>MUL</a:t>
            </a:r>
            <a:r>
              <a:rPr lang="zh-CN" altLang="en-US" sz="2000" dirty="0" smtClean="0">
                <a:solidFill>
                  <a:srgbClr val="FF0000"/>
                </a:solidFill>
              </a:rPr>
              <a:t>和除法指令</a:t>
            </a:r>
            <a:r>
              <a:rPr lang="en-US" altLang="zh-CN" sz="2000" dirty="0" smtClean="0">
                <a:solidFill>
                  <a:srgbClr val="FF0000"/>
                </a:solidFill>
              </a:rPr>
              <a:t>DIV</a:t>
            </a:r>
            <a:r>
              <a:rPr lang="zh-CN" altLang="en-US" sz="2000" dirty="0" smtClean="0">
                <a:solidFill>
                  <a:srgbClr val="FF0000"/>
                </a:solidFill>
              </a:rPr>
              <a:t>都只有一个操作数！被乘数</a:t>
            </a:r>
            <a:r>
              <a:rPr lang="en-US" altLang="zh-CN" sz="2000" dirty="0" smtClean="0">
                <a:solidFill>
                  <a:srgbClr val="FF0000"/>
                </a:solidFill>
              </a:rPr>
              <a:t>/</a:t>
            </a:r>
            <a:r>
              <a:rPr lang="zh-CN" altLang="en-US" sz="2000" dirty="0" smtClean="0">
                <a:solidFill>
                  <a:srgbClr val="FF0000"/>
                </a:solidFill>
              </a:rPr>
              <a:t>被除数根据指令给出操作数的类型决定。</a:t>
            </a:r>
          </a:p>
          <a:p>
            <a:pPr marL="0" indent="0">
              <a:buNone/>
            </a:pPr>
            <a:r>
              <a:rPr lang="zh-CN" altLang="en-US" sz="2000" dirty="0" smtClean="0">
                <a:solidFill>
                  <a:srgbClr val="FF0000"/>
                </a:solidFill>
              </a:rPr>
              <a:t>如果操作数是</a:t>
            </a:r>
            <a:r>
              <a:rPr lang="en-US" altLang="zh-CN" sz="2000" dirty="0" smtClean="0">
                <a:solidFill>
                  <a:srgbClr val="FF0000"/>
                </a:solidFill>
              </a:rPr>
              <a:t>8</a:t>
            </a:r>
            <a:r>
              <a:rPr lang="zh-CN" altLang="en-US" sz="2000" dirty="0" smtClean="0">
                <a:solidFill>
                  <a:srgbClr val="FF0000"/>
                </a:solidFill>
              </a:rPr>
              <a:t>位寄存器或</a:t>
            </a:r>
            <a:r>
              <a:rPr lang="en-US" altLang="zh-CN" sz="2000" dirty="0" smtClean="0">
                <a:solidFill>
                  <a:srgbClr val="FF0000"/>
                </a:solidFill>
              </a:rPr>
              <a:t>DB</a:t>
            </a:r>
            <a:r>
              <a:rPr lang="zh-CN" altLang="en-US" sz="2000" dirty="0" smtClean="0">
                <a:solidFill>
                  <a:srgbClr val="FF0000"/>
                </a:solidFill>
              </a:rPr>
              <a:t>变量，乘法的被乘数为</a:t>
            </a:r>
            <a:r>
              <a:rPr lang="en-US" altLang="zh-CN" sz="2000" dirty="0" smtClean="0">
                <a:solidFill>
                  <a:srgbClr val="FF0000"/>
                </a:solidFill>
              </a:rPr>
              <a:t>AL</a:t>
            </a:r>
            <a:r>
              <a:rPr lang="zh-CN" altLang="en-US" sz="2000" dirty="0" smtClean="0">
                <a:solidFill>
                  <a:srgbClr val="FF0000"/>
                </a:solidFill>
              </a:rPr>
              <a:t>，结果放在</a:t>
            </a:r>
            <a:r>
              <a:rPr lang="en-US" altLang="zh-CN" sz="2000" dirty="0" smtClean="0">
                <a:solidFill>
                  <a:srgbClr val="FF0000"/>
                </a:solidFill>
              </a:rPr>
              <a:t>AX</a:t>
            </a:r>
            <a:r>
              <a:rPr lang="zh-CN" altLang="en-US" sz="2000" dirty="0" smtClean="0">
                <a:solidFill>
                  <a:srgbClr val="FF0000"/>
                </a:solidFill>
              </a:rPr>
              <a:t>中。除法的被除数是</a:t>
            </a:r>
            <a:r>
              <a:rPr lang="en-US" altLang="zh-CN" sz="2000" dirty="0" smtClean="0">
                <a:solidFill>
                  <a:srgbClr val="FF0000"/>
                </a:solidFill>
              </a:rPr>
              <a:t>AX,</a:t>
            </a:r>
            <a:r>
              <a:rPr lang="zh-CN" altLang="en-US" sz="2000" dirty="0" smtClean="0">
                <a:solidFill>
                  <a:srgbClr val="FF0000"/>
                </a:solidFill>
              </a:rPr>
              <a:t>商放</a:t>
            </a:r>
            <a:r>
              <a:rPr lang="en-US" altLang="zh-CN" sz="2000" dirty="0" smtClean="0">
                <a:solidFill>
                  <a:srgbClr val="FF0000"/>
                </a:solidFill>
              </a:rPr>
              <a:t>AL</a:t>
            </a:r>
            <a:r>
              <a:rPr lang="zh-CN" altLang="en-US" sz="2000" dirty="0" smtClean="0">
                <a:solidFill>
                  <a:srgbClr val="FF0000"/>
                </a:solidFill>
              </a:rPr>
              <a:t>，余数放</a:t>
            </a:r>
            <a:r>
              <a:rPr lang="en-US" altLang="zh-CN" sz="2000" dirty="0" smtClean="0">
                <a:solidFill>
                  <a:srgbClr val="FF0000"/>
                </a:solidFill>
              </a:rPr>
              <a:t>AH</a:t>
            </a:r>
            <a:r>
              <a:rPr lang="zh-CN" altLang="en-US" sz="2000" dirty="0" smtClean="0">
                <a:solidFill>
                  <a:srgbClr val="FF0000"/>
                </a:solidFill>
              </a:rPr>
              <a:t>。</a:t>
            </a:r>
          </a:p>
          <a:p>
            <a:pPr marL="0" indent="0">
              <a:buNone/>
            </a:pPr>
            <a:r>
              <a:rPr lang="zh-CN" altLang="en-US" sz="2000" dirty="0" smtClean="0">
                <a:solidFill>
                  <a:srgbClr val="FF0000"/>
                </a:solidFill>
              </a:rPr>
              <a:t>如果操作数是</a:t>
            </a:r>
            <a:r>
              <a:rPr lang="en-US" altLang="zh-CN" sz="2000" dirty="0" smtClean="0">
                <a:solidFill>
                  <a:srgbClr val="FF0000"/>
                </a:solidFill>
              </a:rPr>
              <a:t>16</a:t>
            </a:r>
            <a:r>
              <a:rPr lang="zh-CN" altLang="en-US" sz="2000" dirty="0" smtClean="0">
                <a:solidFill>
                  <a:srgbClr val="FF0000"/>
                </a:solidFill>
              </a:rPr>
              <a:t>位寄存器或</a:t>
            </a:r>
            <a:r>
              <a:rPr lang="en-US" altLang="zh-CN" sz="2000" dirty="0" smtClean="0">
                <a:solidFill>
                  <a:srgbClr val="FF0000"/>
                </a:solidFill>
              </a:rPr>
              <a:t>DW</a:t>
            </a:r>
            <a:r>
              <a:rPr lang="zh-CN" altLang="en-US" sz="2000" dirty="0" smtClean="0">
                <a:solidFill>
                  <a:srgbClr val="FF0000"/>
                </a:solidFill>
              </a:rPr>
              <a:t>变量，乘法的被乘数为</a:t>
            </a:r>
            <a:r>
              <a:rPr lang="en-US" altLang="zh-CN" sz="2000" dirty="0" smtClean="0">
                <a:solidFill>
                  <a:srgbClr val="FF0000"/>
                </a:solidFill>
              </a:rPr>
              <a:t>AX</a:t>
            </a:r>
            <a:r>
              <a:rPr lang="zh-CN" altLang="en-US" sz="2000" dirty="0" smtClean="0">
                <a:solidFill>
                  <a:srgbClr val="FF0000"/>
                </a:solidFill>
              </a:rPr>
              <a:t>，结果放在</a:t>
            </a:r>
            <a:r>
              <a:rPr lang="en-US" altLang="zh-CN" sz="2000" dirty="0" smtClean="0">
                <a:solidFill>
                  <a:srgbClr val="FF0000"/>
                </a:solidFill>
              </a:rPr>
              <a:t>DX(</a:t>
            </a:r>
            <a:r>
              <a:rPr lang="zh-CN" altLang="en-US" sz="2000" dirty="0" smtClean="0">
                <a:solidFill>
                  <a:srgbClr val="FF0000"/>
                </a:solidFill>
              </a:rPr>
              <a:t>高</a:t>
            </a:r>
            <a:r>
              <a:rPr lang="en-US" altLang="zh-CN" sz="2000" dirty="0" smtClean="0">
                <a:solidFill>
                  <a:srgbClr val="FF0000"/>
                </a:solidFill>
              </a:rPr>
              <a:t>16</a:t>
            </a:r>
            <a:r>
              <a:rPr lang="zh-CN" altLang="en-US" sz="2000" dirty="0" smtClean="0">
                <a:solidFill>
                  <a:srgbClr val="FF0000"/>
                </a:solidFill>
              </a:rPr>
              <a:t>位</a:t>
            </a:r>
            <a:r>
              <a:rPr lang="en-US" altLang="zh-CN" sz="2000" dirty="0" smtClean="0">
                <a:solidFill>
                  <a:srgbClr val="FF0000"/>
                </a:solidFill>
              </a:rPr>
              <a:t>)</a:t>
            </a:r>
            <a:r>
              <a:rPr lang="zh-CN" altLang="en-US" sz="2000" dirty="0" smtClean="0">
                <a:solidFill>
                  <a:srgbClr val="FF0000"/>
                </a:solidFill>
              </a:rPr>
              <a:t>和</a:t>
            </a:r>
            <a:r>
              <a:rPr lang="en-US" altLang="zh-CN" sz="2000" dirty="0" smtClean="0">
                <a:solidFill>
                  <a:srgbClr val="FF0000"/>
                </a:solidFill>
              </a:rPr>
              <a:t>AX</a:t>
            </a:r>
            <a:r>
              <a:rPr lang="zh-CN" altLang="en-US" sz="2000" dirty="0" smtClean="0">
                <a:solidFill>
                  <a:srgbClr val="FF0000"/>
                </a:solidFill>
              </a:rPr>
              <a:t>（低</a:t>
            </a:r>
            <a:r>
              <a:rPr lang="en-US" altLang="zh-CN" sz="2000" dirty="0" smtClean="0">
                <a:solidFill>
                  <a:srgbClr val="FF0000"/>
                </a:solidFill>
              </a:rPr>
              <a:t>16</a:t>
            </a:r>
            <a:r>
              <a:rPr lang="zh-CN" altLang="en-US" sz="2000" dirty="0" smtClean="0">
                <a:solidFill>
                  <a:srgbClr val="FF0000"/>
                </a:solidFill>
              </a:rPr>
              <a:t>位）中。除法的被除数是</a:t>
            </a:r>
            <a:r>
              <a:rPr lang="en-US" altLang="zh-CN" sz="2000" dirty="0" smtClean="0">
                <a:solidFill>
                  <a:srgbClr val="FF0000"/>
                </a:solidFill>
              </a:rPr>
              <a:t>DX</a:t>
            </a:r>
            <a:r>
              <a:rPr lang="zh-CN" altLang="en-US" sz="2000" dirty="0" smtClean="0">
                <a:solidFill>
                  <a:srgbClr val="FF0000"/>
                </a:solidFill>
              </a:rPr>
              <a:t>高</a:t>
            </a:r>
            <a:r>
              <a:rPr lang="en-US" altLang="zh-CN" sz="2000" dirty="0" smtClean="0">
                <a:solidFill>
                  <a:srgbClr val="FF0000"/>
                </a:solidFill>
              </a:rPr>
              <a:t>AX</a:t>
            </a:r>
            <a:r>
              <a:rPr lang="zh-CN" altLang="en-US" sz="2000" dirty="0" smtClean="0">
                <a:solidFill>
                  <a:srgbClr val="FF0000"/>
                </a:solidFill>
              </a:rPr>
              <a:t>低组成的</a:t>
            </a:r>
            <a:r>
              <a:rPr lang="en-US" altLang="zh-CN" sz="2000" dirty="0" smtClean="0">
                <a:solidFill>
                  <a:srgbClr val="FF0000"/>
                </a:solidFill>
              </a:rPr>
              <a:t>32</a:t>
            </a:r>
            <a:r>
              <a:rPr lang="zh-CN" altLang="en-US" sz="2000" dirty="0" smtClean="0">
                <a:solidFill>
                  <a:srgbClr val="FF0000"/>
                </a:solidFill>
              </a:rPr>
              <a:t>位数</a:t>
            </a:r>
            <a:r>
              <a:rPr lang="en-US" altLang="zh-CN" sz="2000" dirty="0" smtClean="0">
                <a:solidFill>
                  <a:srgbClr val="FF0000"/>
                </a:solidFill>
              </a:rPr>
              <a:t>,</a:t>
            </a:r>
            <a:r>
              <a:rPr lang="zh-CN" altLang="en-US" sz="2000" dirty="0" smtClean="0">
                <a:solidFill>
                  <a:srgbClr val="FF0000"/>
                </a:solidFill>
              </a:rPr>
              <a:t>商放</a:t>
            </a:r>
            <a:r>
              <a:rPr lang="en-US" altLang="zh-CN" sz="2000" dirty="0" smtClean="0">
                <a:solidFill>
                  <a:srgbClr val="FF0000"/>
                </a:solidFill>
              </a:rPr>
              <a:t>AX</a:t>
            </a:r>
            <a:r>
              <a:rPr lang="zh-CN" altLang="en-US" sz="2000" dirty="0" smtClean="0">
                <a:solidFill>
                  <a:srgbClr val="FF0000"/>
                </a:solidFill>
              </a:rPr>
              <a:t>，余数放</a:t>
            </a:r>
            <a:r>
              <a:rPr lang="en-US" altLang="zh-CN" sz="2000" dirty="0" smtClean="0">
                <a:solidFill>
                  <a:srgbClr val="FF0000"/>
                </a:solidFill>
              </a:rPr>
              <a:t>DX</a:t>
            </a:r>
          </a:p>
          <a:p>
            <a:pPr marL="0" indent="0">
              <a:buNone/>
            </a:pPr>
            <a:endParaRPr lang="en-US" altLang="zh-CN" sz="2000" dirty="0">
              <a:solidFill>
                <a:srgbClr val="FF0000"/>
              </a:solidFill>
            </a:endParaRPr>
          </a:p>
          <a:p>
            <a:pPr marL="0" indent="0">
              <a:buNone/>
            </a:pPr>
            <a:r>
              <a:rPr lang="zh-CN" altLang="en-US" sz="2000" dirty="0" smtClean="0">
                <a:solidFill>
                  <a:srgbClr val="FF0000"/>
                </a:solidFill>
              </a:rPr>
              <a:t>思考题：假设</a:t>
            </a:r>
            <a:r>
              <a:rPr lang="en-US" altLang="zh-CN" sz="2000" dirty="0" smtClean="0">
                <a:solidFill>
                  <a:srgbClr val="FF0000"/>
                </a:solidFill>
              </a:rPr>
              <a:t>AX=234H, BX=110H DX=0H</a:t>
            </a:r>
            <a:r>
              <a:rPr lang="zh-CN" altLang="en-US" sz="2000" dirty="0" smtClean="0">
                <a:solidFill>
                  <a:srgbClr val="FF0000"/>
                </a:solidFill>
              </a:rPr>
              <a:t>请问若分别执行</a:t>
            </a:r>
            <a:r>
              <a:rPr lang="en-US" altLang="zh-CN" sz="2000" dirty="0" smtClean="0">
                <a:solidFill>
                  <a:srgbClr val="FF0000"/>
                </a:solidFill>
              </a:rPr>
              <a:t>:</a:t>
            </a:r>
            <a:endParaRPr lang="zh-CN" altLang="en-US" sz="2000" dirty="0" smtClean="0">
              <a:solidFill>
                <a:srgbClr val="FF0000"/>
              </a:solidFill>
            </a:endParaRPr>
          </a:p>
          <a:p>
            <a:pPr marL="0" indent="0">
              <a:buNone/>
            </a:pPr>
            <a:r>
              <a:rPr lang="en-US" altLang="zh-CN" sz="2000" dirty="0" smtClean="0">
                <a:solidFill>
                  <a:srgbClr val="FF0000"/>
                </a:solidFill>
              </a:rPr>
              <a:t>MUL BL</a:t>
            </a:r>
            <a:r>
              <a:rPr lang="zh-CN" altLang="en-US" sz="2000" dirty="0" smtClean="0">
                <a:solidFill>
                  <a:srgbClr val="FF0000"/>
                </a:solidFill>
              </a:rPr>
              <a:t>后，</a:t>
            </a:r>
            <a:r>
              <a:rPr lang="en-US" altLang="zh-CN" sz="2000" dirty="0" smtClean="0">
                <a:solidFill>
                  <a:srgbClr val="FF0000"/>
                </a:solidFill>
              </a:rPr>
              <a:t>AX=? BX=? DX=?  </a:t>
            </a:r>
            <a:endParaRPr lang="zh-CN" altLang="en-US" sz="2000" dirty="0" smtClean="0">
              <a:solidFill>
                <a:srgbClr val="FF0000"/>
              </a:solidFill>
            </a:endParaRPr>
          </a:p>
          <a:p>
            <a:pPr marL="0" indent="0">
              <a:buNone/>
            </a:pPr>
            <a:r>
              <a:rPr lang="en-US" altLang="zh-CN" sz="2000" dirty="0" smtClean="0">
                <a:solidFill>
                  <a:srgbClr val="FF0000"/>
                </a:solidFill>
              </a:rPr>
              <a:t>MUL BX</a:t>
            </a:r>
            <a:r>
              <a:rPr lang="zh-CN" altLang="en-US" sz="2000" dirty="0" smtClean="0">
                <a:solidFill>
                  <a:srgbClr val="FF0000"/>
                </a:solidFill>
              </a:rPr>
              <a:t>后</a:t>
            </a:r>
            <a:r>
              <a:rPr lang="en-US" altLang="zh-CN" sz="2000" dirty="0" smtClean="0">
                <a:solidFill>
                  <a:srgbClr val="FF0000"/>
                </a:solidFill>
              </a:rPr>
              <a:t> AX=?  BX=? DX=?</a:t>
            </a:r>
            <a:endParaRPr lang="zh-CN" altLang="en-US" sz="2000" dirty="0" smtClean="0">
              <a:solidFill>
                <a:srgbClr val="FF0000"/>
              </a:solidFill>
            </a:endParaRPr>
          </a:p>
          <a:p>
            <a:pPr marL="0" indent="0">
              <a:buNone/>
            </a:pPr>
            <a:r>
              <a:rPr lang="en-US" altLang="zh-CN" sz="2000" dirty="0" smtClean="0">
                <a:solidFill>
                  <a:srgbClr val="FF0000"/>
                </a:solidFill>
              </a:rPr>
              <a:t>DIV BL </a:t>
            </a:r>
            <a:r>
              <a:rPr lang="zh-CN" altLang="en-US" sz="2000" dirty="0" smtClean="0">
                <a:solidFill>
                  <a:srgbClr val="FF0000"/>
                </a:solidFill>
              </a:rPr>
              <a:t>后，三个寄存器的值？</a:t>
            </a:r>
          </a:p>
          <a:p>
            <a:pPr marL="0" indent="0">
              <a:buNone/>
            </a:pPr>
            <a:r>
              <a:rPr lang="en-US" altLang="zh-CN" sz="2000" dirty="0" smtClean="0">
                <a:solidFill>
                  <a:srgbClr val="FF0000"/>
                </a:solidFill>
              </a:rPr>
              <a:t>DIV BX </a:t>
            </a:r>
            <a:r>
              <a:rPr lang="zh-CN" altLang="en-US" sz="2000" dirty="0" smtClean="0">
                <a:solidFill>
                  <a:srgbClr val="FF0000"/>
                </a:solidFill>
              </a:rPr>
              <a:t>后，三个寄存器的值</a:t>
            </a:r>
            <a:r>
              <a:rPr lang="en-US" altLang="zh-CN" sz="2000" dirty="0" smtClean="0">
                <a:solidFill>
                  <a:srgbClr val="FF0000"/>
                </a:solidFill>
              </a:rPr>
              <a:t>?</a:t>
            </a:r>
            <a:endParaRPr lang="zh-CN" altLang="en-US" sz="2000" dirty="0" smtClean="0">
              <a:solidFill>
                <a:srgbClr val="FF0000"/>
              </a:solidFill>
            </a:endParaRPr>
          </a:p>
          <a:p>
            <a:pPr marL="0" indent="0">
              <a:buNone/>
            </a:pPr>
            <a:endParaRPr lang="zh-CN" altLang="en-US" sz="2000" dirty="0" smtClean="0">
              <a:solidFill>
                <a:srgbClr val="FF0000"/>
              </a:solidFill>
            </a:endParaRPr>
          </a:p>
          <a:p>
            <a:endParaRPr lang="en-US" altLang="zh-CN" sz="2000" dirty="0" smtClean="0"/>
          </a:p>
        </p:txBody>
      </p:sp>
    </p:spTree>
    <p:extLst>
      <p:ext uri="{BB962C8B-B14F-4D97-AF65-F5344CB8AC3E}">
        <p14:creationId xmlns:p14="http://schemas.microsoft.com/office/powerpoint/2010/main" val="24440406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第五章</a:t>
            </a:r>
            <a:endParaRPr lang="zh-CN" altLang="en-US" dirty="0"/>
          </a:p>
        </p:txBody>
      </p:sp>
      <p:sp>
        <p:nvSpPr>
          <p:cNvPr id="3" name="内容占位符 2"/>
          <p:cNvSpPr>
            <a:spLocks noGrp="1"/>
          </p:cNvSpPr>
          <p:nvPr>
            <p:ph idx="1"/>
          </p:nvPr>
        </p:nvSpPr>
        <p:spPr>
          <a:xfrm>
            <a:off x="655320" y="1610282"/>
            <a:ext cx="10515600" cy="4665155"/>
          </a:xfrm>
        </p:spPr>
        <p:txBody>
          <a:bodyPr>
            <a:normAutofit fontScale="70000" lnSpcReduction="20000"/>
          </a:bodyPr>
          <a:lstStyle/>
          <a:p>
            <a:r>
              <a:rPr lang="zh-CN" altLang="en-US" dirty="0" smtClean="0">
                <a:solidFill>
                  <a:srgbClr val="FF0000"/>
                </a:solidFill>
              </a:rPr>
              <a:t>汇编语言的基本结构定义（数据段，代码段）</a:t>
            </a:r>
            <a:r>
              <a:rPr lang="en-US" altLang="zh-CN" dirty="0" smtClean="0">
                <a:solidFill>
                  <a:srgbClr val="FF0000"/>
                </a:solidFill>
              </a:rPr>
              <a:t>P181-182</a:t>
            </a:r>
          </a:p>
          <a:p>
            <a:r>
              <a:rPr lang="zh-CN" altLang="en-US" dirty="0" smtClean="0">
                <a:solidFill>
                  <a:srgbClr val="FF0000"/>
                </a:solidFill>
              </a:rPr>
              <a:t>变量的定义与变量的三个属性</a:t>
            </a:r>
            <a:r>
              <a:rPr lang="en-US" altLang="zh-CN" dirty="0" smtClean="0">
                <a:solidFill>
                  <a:srgbClr val="FF0000"/>
                </a:solidFill>
              </a:rPr>
              <a:t>P185-186</a:t>
            </a:r>
          </a:p>
          <a:p>
            <a:r>
              <a:rPr lang="zh-CN" altLang="en-US" dirty="0" smtClean="0">
                <a:solidFill>
                  <a:srgbClr val="FF0000"/>
                </a:solidFill>
              </a:rPr>
              <a:t>变量定义后在内存中的存储方式 </a:t>
            </a:r>
            <a:r>
              <a:rPr lang="en-US" altLang="zh-CN" dirty="0" smtClean="0">
                <a:solidFill>
                  <a:srgbClr val="FF0000"/>
                </a:solidFill>
              </a:rPr>
              <a:t>P186 </a:t>
            </a:r>
            <a:r>
              <a:rPr lang="zh-CN" altLang="en-US" dirty="0" smtClean="0"/>
              <a:t>数值表达式与</a:t>
            </a:r>
            <a:r>
              <a:rPr lang="zh-CN" altLang="en-US" dirty="0" smtClean="0">
                <a:solidFill>
                  <a:srgbClr val="FF0000"/>
                </a:solidFill>
              </a:rPr>
              <a:t>字符串定义</a:t>
            </a:r>
            <a:r>
              <a:rPr lang="zh-CN" altLang="en-US" dirty="0" smtClean="0"/>
              <a:t>部分，注意要懂得画出变量在内存中的存储图，结合汇编语言作业第</a:t>
            </a:r>
            <a:r>
              <a:rPr lang="en-US" altLang="zh-CN" dirty="0" smtClean="0"/>
              <a:t>2</a:t>
            </a:r>
            <a:r>
              <a:rPr lang="zh-CN" altLang="en-US" dirty="0" smtClean="0"/>
              <a:t>题</a:t>
            </a:r>
            <a:endParaRPr lang="en-US" altLang="zh-CN" dirty="0" smtClean="0"/>
          </a:p>
          <a:p>
            <a:r>
              <a:rPr lang="zh-CN" altLang="en-US" dirty="0" smtClean="0"/>
              <a:t>变量的使用方式</a:t>
            </a:r>
            <a:r>
              <a:rPr lang="en-US" altLang="zh-CN" dirty="0" smtClean="0"/>
              <a:t>P188</a:t>
            </a:r>
          </a:p>
          <a:p>
            <a:r>
              <a:rPr lang="zh-CN" altLang="en-US" dirty="0" smtClean="0">
                <a:solidFill>
                  <a:srgbClr val="FF0000"/>
                </a:solidFill>
              </a:rPr>
              <a:t>标号的概念与三个属性</a:t>
            </a:r>
            <a:r>
              <a:rPr lang="en-US" altLang="zh-CN" dirty="0" smtClean="0">
                <a:solidFill>
                  <a:srgbClr val="FF0000"/>
                </a:solidFill>
              </a:rPr>
              <a:t>P188-189</a:t>
            </a:r>
          </a:p>
          <a:p>
            <a:r>
              <a:rPr lang="zh-CN" altLang="en-US" dirty="0" smtClean="0">
                <a:solidFill>
                  <a:srgbClr val="FF0000"/>
                </a:solidFill>
              </a:rPr>
              <a:t>段寄存器的装载 </a:t>
            </a:r>
            <a:r>
              <a:rPr lang="en-US" altLang="zh-CN" dirty="0" smtClean="0">
                <a:solidFill>
                  <a:srgbClr val="FF0000"/>
                </a:solidFill>
              </a:rPr>
              <a:t>P197-199</a:t>
            </a:r>
          </a:p>
          <a:p>
            <a:r>
              <a:rPr lang="zh-CN" altLang="en-US" dirty="0" smtClean="0">
                <a:solidFill>
                  <a:srgbClr val="FF0000"/>
                </a:solidFill>
              </a:rPr>
              <a:t>顺序程序 </a:t>
            </a:r>
            <a:r>
              <a:rPr lang="en-US" altLang="zh-CN" dirty="0" smtClean="0">
                <a:solidFill>
                  <a:srgbClr val="FF0000"/>
                </a:solidFill>
              </a:rPr>
              <a:t>P212-213</a:t>
            </a:r>
            <a:r>
              <a:rPr lang="zh-CN" altLang="en-US" dirty="0" smtClean="0">
                <a:solidFill>
                  <a:srgbClr val="FF0000"/>
                </a:solidFill>
              </a:rPr>
              <a:t>两个程序</a:t>
            </a:r>
            <a:endParaRPr lang="en-US" altLang="zh-CN" dirty="0" smtClean="0">
              <a:solidFill>
                <a:srgbClr val="FF0000"/>
              </a:solidFill>
            </a:endParaRPr>
          </a:p>
          <a:p>
            <a:r>
              <a:rPr lang="zh-CN" altLang="en-US" dirty="0" smtClean="0">
                <a:solidFill>
                  <a:srgbClr val="FF0000"/>
                </a:solidFill>
              </a:rPr>
              <a:t>分支程序转移条件</a:t>
            </a:r>
            <a:r>
              <a:rPr lang="en-US" altLang="zh-CN" dirty="0" smtClean="0">
                <a:solidFill>
                  <a:srgbClr val="FF0000"/>
                </a:solidFill>
              </a:rPr>
              <a:t>P216</a:t>
            </a:r>
            <a:r>
              <a:rPr lang="en-US" altLang="zh-CN" dirty="0" smtClean="0"/>
              <a:t>,</a:t>
            </a:r>
            <a:r>
              <a:rPr lang="zh-CN" altLang="en-US" dirty="0" smtClean="0"/>
              <a:t>记住</a:t>
            </a:r>
            <a:r>
              <a:rPr lang="en-US" altLang="zh-CN" dirty="0" smtClean="0">
                <a:solidFill>
                  <a:srgbClr val="FF0000"/>
                </a:solidFill>
              </a:rPr>
              <a:t>JE</a:t>
            </a:r>
            <a:r>
              <a:rPr lang="en-US" altLang="zh-CN" dirty="0" smtClean="0"/>
              <a:t>,JNE,JA,JAE,JB,JBE</a:t>
            </a:r>
            <a:r>
              <a:rPr lang="en-US" altLang="zh-CN" dirty="0" smtClean="0">
                <a:solidFill>
                  <a:srgbClr val="FF0000"/>
                </a:solidFill>
              </a:rPr>
              <a:t>,JG,JGE,JL,JLE</a:t>
            </a:r>
            <a:r>
              <a:rPr lang="zh-CN" altLang="en-US" dirty="0" smtClean="0"/>
              <a:t>即可</a:t>
            </a:r>
            <a:endParaRPr lang="en-US" altLang="zh-CN" dirty="0" smtClean="0"/>
          </a:p>
          <a:p>
            <a:r>
              <a:rPr lang="en-US" altLang="zh-CN" dirty="0" smtClean="0"/>
              <a:t>P217-219</a:t>
            </a:r>
            <a:r>
              <a:rPr lang="zh-CN" altLang="en-US" dirty="0" smtClean="0"/>
              <a:t>，分支程序例题</a:t>
            </a:r>
            <a:endParaRPr lang="en-US" altLang="zh-CN" dirty="0" smtClean="0"/>
          </a:p>
          <a:p>
            <a:r>
              <a:rPr lang="en-US" altLang="zh-CN" dirty="0" smtClean="0">
                <a:solidFill>
                  <a:srgbClr val="FF0000"/>
                </a:solidFill>
              </a:rPr>
              <a:t>LOOP,</a:t>
            </a:r>
            <a:r>
              <a:rPr lang="en-US" altLang="zh-CN" dirty="0" smtClean="0"/>
              <a:t>LOOPE,LOOPNE</a:t>
            </a:r>
            <a:r>
              <a:rPr lang="zh-CN" altLang="en-US" dirty="0" smtClean="0">
                <a:solidFill>
                  <a:srgbClr val="FF0000"/>
                </a:solidFill>
              </a:rPr>
              <a:t>指令用法与课本例题</a:t>
            </a:r>
            <a:endParaRPr lang="en-US" altLang="zh-CN" dirty="0" smtClean="0">
              <a:solidFill>
                <a:srgbClr val="FF0000"/>
              </a:solidFill>
            </a:endParaRPr>
          </a:p>
          <a:p>
            <a:r>
              <a:rPr lang="zh-CN" altLang="en-US" dirty="0">
                <a:solidFill>
                  <a:srgbClr val="FF0000"/>
                </a:solidFill>
              </a:rPr>
              <a:t>用</a:t>
            </a:r>
            <a:r>
              <a:rPr lang="zh-CN" altLang="en-US" dirty="0" smtClean="0">
                <a:solidFill>
                  <a:srgbClr val="FF0000"/>
                </a:solidFill>
              </a:rPr>
              <a:t>条件控制循环例题 </a:t>
            </a:r>
            <a:r>
              <a:rPr lang="en-US" altLang="zh-CN" dirty="0" smtClean="0">
                <a:solidFill>
                  <a:srgbClr val="FF0000"/>
                </a:solidFill>
              </a:rPr>
              <a:t>P228</a:t>
            </a:r>
            <a:r>
              <a:rPr lang="zh-CN" altLang="en-US" dirty="0" smtClean="0">
                <a:solidFill>
                  <a:srgbClr val="FF0000"/>
                </a:solidFill>
              </a:rPr>
              <a:t>，注意例题是如何使用</a:t>
            </a:r>
            <a:r>
              <a:rPr lang="en-US" altLang="zh-CN" dirty="0" smtClean="0">
                <a:solidFill>
                  <a:srgbClr val="FF0000"/>
                </a:solidFill>
              </a:rPr>
              <a:t>JMP</a:t>
            </a:r>
            <a:r>
              <a:rPr lang="zh-CN" altLang="en-US" dirty="0" smtClean="0">
                <a:solidFill>
                  <a:srgbClr val="FF0000"/>
                </a:solidFill>
              </a:rPr>
              <a:t>实现满足特定条件时终止循环的</a:t>
            </a:r>
            <a:endParaRPr lang="en-US" altLang="zh-CN" dirty="0" smtClean="0">
              <a:solidFill>
                <a:srgbClr val="FF0000"/>
              </a:solidFill>
            </a:endParaRPr>
          </a:p>
          <a:p>
            <a:r>
              <a:rPr lang="zh-CN" altLang="en-US" dirty="0" smtClean="0">
                <a:solidFill>
                  <a:srgbClr val="FF0000"/>
                </a:solidFill>
              </a:rPr>
              <a:t>子程序的具体定义方法 </a:t>
            </a:r>
            <a:r>
              <a:rPr lang="en-US" altLang="zh-CN" dirty="0" smtClean="0">
                <a:solidFill>
                  <a:srgbClr val="FF0000"/>
                </a:solidFill>
              </a:rPr>
              <a:t>P233</a:t>
            </a:r>
            <a:r>
              <a:rPr lang="zh-CN" altLang="en-US" dirty="0" smtClean="0"/>
              <a:t>， </a:t>
            </a:r>
            <a:r>
              <a:rPr lang="en-US" altLang="zh-CN" dirty="0" smtClean="0">
                <a:solidFill>
                  <a:srgbClr val="FF0000"/>
                </a:solidFill>
              </a:rPr>
              <a:t>CALL</a:t>
            </a:r>
            <a:r>
              <a:rPr lang="zh-CN" altLang="en-US" dirty="0" smtClean="0">
                <a:solidFill>
                  <a:srgbClr val="FF0000"/>
                </a:solidFill>
              </a:rPr>
              <a:t>与</a:t>
            </a:r>
            <a:r>
              <a:rPr lang="en-US" altLang="zh-CN" dirty="0" smtClean="0">
                <a:solidFill>
                  <a:srgbClr val="FF0000"/>
                </a:solidFill>
              </a:rPr>
              <a:t>RET</a:t>
            </a:r>
            <a:r>
              <a:rPr lang="zh-CN" altLang="en-US" dirty="0" smtClean="0">
                <a:solidFill>
                  <a:srgbClr val="FF0000"/>
                </a:solidFill>
              </a:rPr>
              <a:t>的实际工作（段内调用）</a:t>
            </a:r>
            <a:r>
              <a:rPr lang="en-US" altLang="zh-CN" dirty="0" smtClean="0">
                <a:solidFill>
                  <a:srgbClr val="FF0000"/>
                </a:solidFill>
              </a:rPr>
              <a:t>P230</a:t>
            </a:r>
          </a:p>
          <a:p>
            <a:endParaRPr lang="en-US" altLang="zh-CN" dirty="0" smtClean="0"/>
          </a:p>
        </p:txBody>
      </p:sp>
    </p:spTree>
    <p:extLst>
      <p:ext uri="{BB962C8B-B14F-4D97-AF65-F5344CB8AC3E}">
        <p14:creationId xmlns:p14="http://schemas.microsoft.com/office/powerpoint/2010/main" val="39416070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第五章</a:t>
            </a:r>
            <a:r>
              <a:rPr lang="zh-CN" altLang="en-US" dirty="0"/>
              <a:t>一些技术细节（看 完 这 些 还 是 要 看 书！）</a:t>
            </a:r>
          </a:p>
        </p:txBody>
      </p:sp>
      <p:sp>
        <p:nvSpPr>
          <p:cNvPr id="3" name="内容占位符 2"/>
          <p:cNvSpPr>
            <a:spLocks noGrp="1"/>
          </p:cNvSpPr>
          <p:nvPr>
            <p:ph idx="1"/>
          </p:nvPr>
        </p:nvSpPr>
        <p:spPr/>
        <p:txBody>
          <a:bodyPr>
            <a:normAutofit fontScale="40000" lnSpcReduction="20000"/>
          </a:bodyPr>
          <a:lstStyle/>
          <a:p>
            <a:pPr>
              <a:buNone/>
            </a:pPr>
            <a:r>
              <a:rPr lang="en-US" altLang="zh-CN" dirty="0"/>
              <a:t>1.</a:t>
            </a:r>
            <a:r>
              <a:rPr lang="zh-CN" altLang="en-US" dirty="0"/>
              <a:t>一个完整的汇编程序结构：</a:t>
            </a:r>
            <a:endParaRPr lang="en-US" altLang="zh-CN" dirty="0"/>
          </a:p>
          <a:p>
            <a:pPr>
              <a:buNone/>
            </a:pPr>
            <a:r>
              <a:rPr lang="zh-CN" altLang="en-US" dirty="0"/>
              <a:t>注意</a:t>
            </a:r>
            <a:r>
              <a:rPr lang="en-US" altLang="zh-CN" dirty="0"/>
              <a:t>P182</a:t>
            </a:r>
            <a:r>
              <a:rPr lang="zh-CN" altLang="en-US" dirty="0"/>
              <a:t>的代码，一个完整的汇编语言需要：</a:t>
            </a:r>
            <a:endParaRPr lang="en-US" altLang="zh-CN" dirty="0"/>
          </a:p>
          <a:p>
            <a:pPr>
              <a:buNone/>
            </a:pPr>
            <a:r>
              <a:rPr lang="zh-CN" altLang="en-US" dirty="0"/>
              <a:t>（</a:t>
            </a:r>
            <a:r>
              <a:rPr lang="en-US" altLang="zh-CN" dirty="0"/>
              <a:t>1</a:t>
            </a:r>
            <a:r>
              <a:rPr lang="zh-CN" altLang="en-US" dirty="0"/>
              <a:t>）定义数据段：</a:t>
            </a:r>
            <a:endParaRPr lang="en-US" altLang="zh-CN" dirty="0"/>
          </a:p>
          <a:p>
            <a:pPr>
              <a:buNone/>
            </a:pPr>
            <a:r>
              <a:rPr lang="en-US" altLang="zh-CN" dirty="0"/>
              <a:t>   DATA SEGMENT</a:t>
            </a:r>
          </a:p>
          <a:p>
            <a:pPr>
              <a:buNone/>
            </a:pPr>
            <a:r>
              <a:rPr lang="en-US" altLang="zh-CN" dirty="0"/>
              <a:t>    ………………….</a:t>
            </a:r>
          </a:p>
          <a:p>
            <a:pPr>
              <a:buNone/>
            </a:pPr>
            <a:r>
              <a:rPr lang="en-US" altLang="zh-CN" dirty="0"/>
              <a:t>   DATA ENDS</a:t>
            </a:r>
          </a:p>
          <a:p>
            <a:pPr>
              <a:buNone/>
            </a:pPr>
            <a:r>
              <a:rPr lang="zh-CN" altLang="en-US" dirty="0"/>
              <a:t>（</a:t>
            </a:r>
            <a:r>
              <a:rPr lang="en-US" altLang="zh-CN" dirty="0"/>
              <a:t>2</a:t>
            </a:r>
            <a:r>
              <a:rPr lang="zh-CN" altLang="en-US" dirty="0"/>
              <a:t>）堆栈段</a:t>
            </a:r>
            <a:r>
              <a:rPr lang="zh-CN" altLang="en-US" dirty="0">
                <a:solidFill>
                  <a:srgbClr val="FF0000"/>
                </a:solidFill>
              </a:rPr>
              <a:t>可以不</a:t>
            </a:r>
            <a:r>
              <a:rPr lang="zh-CN" altLang="en-US" dirty="0"/>
              <a:t>定义</a:t>
            </a:r>
          </a:p>
          <a:p>
            <a:pPr>
              <a:buNone/>
            </a:pPr>
            <a:r>
              <a:rPr lang="zh-CN" altLang="en-US" dirty="0"/>
              <a:t>（</a:t>
            </a:r>
            <a:r>
              <a:rPr lang="en-US" altLang="zh-CN" dirty="0"/>
              <a:t>3</a:t>
            </a:r>
            <a:r>
              <a:rPr lang="zh-CN" altLang="en-US" dirty="0"/>
              <a:t>）定义代码段：</a:t>
            </a:r>
            <a:endParaRPr lang="en-US" altLang="zh-CN" dirty="0"/>
          </a:p>
          <a:p>
            <a:pPr>
              <a:buNone/>
            </a:pPr>
            <a:r>
              <a:rPr lang="en-US" altLang="zh-CN" dirty="0"/>
              <a:t>  CODE SEGMENT</a:t>
            </a:r>
          </a:p>
          <a:p>
            <a:pPr>
              <a:buNone/>
            </a:pPr>
            <a:r>
              <a:rPr lang="en-US" altLang="zh-CN" dirty="0"/>
              <a:t>       </a:t>
            </a:r>
            <a:r>
              <a:rPr lang="en-US" altLang="zh-CN" dirty="0">
                <a:solidFill>
                  <a:srgbClr val="FF0000"/>
                </a:solidFill>
              </a:rPr>
              <a:t>ASSUME   CS:CODE,DS:DATA </a:t>
            </a:r>
          </a:p>
          <a:p>
            <a:pPr>
              <a:buNone/>
            </a:pPr>
            <a:r>
              <a:rPr lang="en-US" altLang="zh-CN" dirty="0">
                <a:solidFill>
                  <a:srgbClr val="FF0000"/>
                </a:solidFill>
              </a:rPr>
              <a:t>START: </a:t>
            </a:r>
            <a:r>
              <a:rPr lang="en-US" altLang="zh-CN" dirty="0" err="1">
                <a:solidFill>
                  <a:srgbClr val="FF0000"/>
                </a:solidFill>
              </a:rPr>
              <a:t>mov</a:t>
            </a:r>
            <a:r>
              <a:rPr lang="en-US" altLang="zh-CN" dirty="0">
                <a:solidFill>
                  <a:srgbClr val="FF0000"/>
                </a:solidFill>
              </a:rPr>
              <a:t> AX,DATA</a:t>
            </a:r>
          </a:p>
          <a:p>
            <a:pPr>
              <a:buNone/>
            </a:pPr>
            <a:r>
              <a:rPr lang="en-US" altLang="zh-CN" dirty="0">
                <a:solidFill>
                  <a:srgbClr val="FF0000"/>
                </a:solidFill>
              </a:rPr>
              <a:t>            </a:t>
            </a:r>
            <a:r>
              <a:rPr lang="en-US" altLang="zh-CN" dirty="0" err="1">
                <a:solidFill>
                  <a:srgbClr val="FF0000"/>
                </a:solidFill>
              </a:rPr>
              <a:t>mov</a:t>
            </a:r>
            <a:r>
              <a:rPr lang="en-US" altLang="zh-CN" dirty="0">
                <a:solidFill>
                  <a:srgbClr val="FF0000"/>
                </a:solidFill>
              </a:rPr>
              <a:t> DS,AX   </a:t>
            </a:r>
            <a:r>
              <a:rPr lang="zh-CN" altLang="en-US" dirty="0">
                <a:solidFill>
                  <a:srgbClr val="FF0000"/>
                </a:solidFill>
              </a:rPr>
              <a:t>初始化数据段基地址</a:t>
            </a:r>
            <a:endParaRPr lang="en-US" altLang="zh-CN" dirty="0">
              <a:solidFill>
                <a:srgbClr val="FF0000"/>
              </a:solidFill>
            </a:endParaRPr>
          </a:p>
          <a:p>
            <a:pPr>
              <a:buNone/>
            </a:pPr>
            <a:r>
              <a:rPr lang="en-US" altLang="zh-CN" dirty="0">
                <a:solidFill>
                  <a:srgbClr val="FF0000"/>
                </a:solidFill>
              </a:rPr>
              <a:t>            ……………</a:t>
            </a:r>
          </a:p>
          <a:p>
            <a:pPr>
              <a:buNone/>
            </a:pPr>
            <a:r>
              <a:rPr lang="en-US" altLang="zh-CN" dirty="0">
                <a:solidFill>
                  <a:srgbClr val="FF0000"/>
                </a:solidFill>
              </a:rPr>
              <a:t>            MOV AH,4C</a:t>
            </a:r>
          </a:p>
          <a:p>
            <a:pPr>
              <a:buNone/>
            </a:pPr>
            <a:r>
              <a:rPr lang="en-US" altLang="zh-CN" dirty="0">
                <a:solidFill>
                  <a:srgbClr val="FF0000"/>
                </a:solidFill>
              </a:rPr>
              <a:t>            INT 21H </a:t>
            </a:r>
            <a:r>
              <a:rPr lang="zh-CN" altLang="en-US" dirty="0">
                <a:solidFill>
                  <a:srgbClr val="FF0000"/>
                </a:solidFill>
              </a:rPr>
              <a:t>调用系统函数退出程序</a:t>
            </a:r>
            <a:endParaRPr lang="en-US" altLang="zh-CN" dirty="0">
              <a:solidFill>
                <a:srgbClr val="FF0000"/>
              </a:solidFill>
            </a:endParaRPr>
          </a:p>
          <a:p>
            <a:pPr>
              <a:buNone/>
            </a:pPr>
            <a:r>
              <a:rPr lang="en-US" altLang="zh-CN" dirty="0">
                <a:solidFill>
                  <a:srgbClr val="FF0000"/>
                </a:solidFill>
              </a:rPr>
              <a:t>   </a:t>
            </a:r>
            <a:r>
              <a:rPr lang="en-US" altLang="zh-CN" dirty="0"/>
              <a:t> CODE ENDS</a:t>
            </a:r>
          </a:p>
          <a:p>
            <a:pPr>
              <a:buNone/>
            </a:pPr>
            <a:r>
              <a:rPr lang="en-US" altLang="zh-CN" dirty="0">
                <a:solidFill>
                  <a:srgbClr val="FF0000"/>
                </a:solidFill>
              </a:rPr>
              <a:t>    END START</a:t>
            </a:r>
            <a:endParaRPr lang="zh-CN" altLang="en-US" dirty="0">
              <a:solidFill>
                <a:srgbClr val="FF0000"/>
              </a:solidFill>
            </a:endParaRPr>
          </a:p>
          <a:p>
            <a:endParaRPr lang="zh-CN" altLang="en-US" dirty="0"/>
          </a:p>
        </p:txBody>
      </p:sp>
    </p:spTree>
    <p:extLst>
      <p:ext uri="{BB962C8B-B14F-4D97-AF65-F5344CB8AC3E}">
        <p14:creationId xmlns:p14="http://schemas.microsoft.com/office/powerpoint/2010/main" val="304085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fontScale="92500" lnSpcReduction="20000"/>
          </a:bodyPr>
          <a:lstStyle/>
          <a:p>
            <a:pPr>
              <a:buNone/>
            </a:pPr>
            <a:r>
              <a:rPr lang="zh-CN" altLang="en-US" dirty="0"/>
              <a:t>代码段重点</a:t>
            </a:r>
            <a:r>
              <a:rPr lang="en-US" altLang="zh-CN" dirty="0"/>
              <a:t>1</a:t>
            </a:r>
            <a:r>
              <a:rPr lang="zh-CN" altLang="en-US" dirty="0"/>
              <a:t>：</a:t>
            </a:r>
            <a:r>
              <a:rPr lang="en-US" altLang="zh-CN" dirty="0"/>
              <a:t>ASSUME</a:t>
            </a:r>
          </a:p>
          <a:p>
            <a:pPr>
              <a:buNone/>
            </a:pPr>
            <a:r>
              <a:rPr lang="en-US" altLang="zh-CN" dirty="0"/>
              <a:t>ASSUME</a:t>
            </a:r>
            <a:r>
              <a:rPr lang="zh-CN" altLang="en-US" dirty="0"/>
              <a:t>建立起段寄存器与段名的联系，</a:t>
            </a:r>
            <a:r>
              <a:rPr lang="en-US" altLang="zh-CN" dirty="0"/>
              <a:t>CS:</a:t>
            </a:r>
            <a:r>
              <a:rPr lang="zh-CN" altLang="en-US" dirty="0"/>
              <a:t>代码段名，</a:t>
            </a:r>
            <a:r>
              <a:rPr lang="en-US" altLang="zh-CN" dirty="0"/>
              <a:t>DS:</a:t>
            </a:r>
            <a:r>
              <a:rPr lang="zh-CN" altLang="en-US" dirty="0"/>
              <a:t>数据段名</a:t>
            </a:r>
            <a:endParaRPr lang="en-US" altLang="zh-CN" dirty="0"/>
          </a:p>
          <a:p>
            <a:pPr>
              <a:buNone/>
            </a:pPr>
            <a:endParaRPr lang="en-US" altLang="zh-CN" dirty="0"/>
          </a:p>
          <a:p>
            <a:pPr>
              <a:buNone/>
            </a:pPr>
            <a:r>
              <a:rPr lang="zh-CN" altLang="en-US" dirty="0"/>
              <a:t>重点</a:t>
            </a:r>
            <a:r>
              <a:rPr lang="en-US" altLang="zh-CN" dirty="0"/>
              <a:t>2</a:t>
            </a:r>
            <a:r>
              <a:rPr lang="zh-CN" altLang="en-US" dirty="0"/>
              <a:t>：</a:t>
            </a:r>
            <a:r>
              <a:rPr lang="en-US" altLang="zh-CN" dirty="0"/>
              <a:t>START</a:t>
            </a:r>
            <a:r>
              <a:rPr lang="zh-CN" altLang="en-US" dirty="0"/>
              <a:t>与</a:t>
            </a:r>
            <a:r>
              <a:rPr lang="en-US" altLang="zh-CN" dirty="0"/>
              <a:t>END START</a:t>
            </a:r>
            <a:r>
              <a:rPr lang="zh-CN" altLang="en-US" dirty="0"/>
              <a:t>的位置</a:t>
            </a:r>
            <a:endParaRPr lang="en-US" altLang="zh-CN" dirty="0"/>
          </a:p>
          <a:p>
            <a:pPr>
              <a:buNone/>
            </a:pPr>
            <a:r>
              <a:rPr lang="en-US" altLang="zh-CN" dirty="0"/>
              <a:t>START</a:t>
            </a:r>
            <a:r>
              <a:rPr lang="zh-CN" altLang="en-US" dirty="0"/>
              <a:t>的位置在代码段第一条指令的前面</a:t>
            </a:r>
            <a:endParaRPr lang="en-US" altLang="zh-CN" dirty="0"/>
          </a:p>
          <a:p>
            <a:pPr>
              <a:buNone/>
            </a:pPr>
            <a:r>
              <a:rPr lang="en-US" altLang="zh-CN" dirty="0"/>
              <a:t>END START </a:t>
            </a:r>
            <a:r>
              <a:rPr lang="zh-CN" altLang="en-US" dirty="0"/>
              <a:t>在</a:t>
            </a:r>
            <a:r>
              <a:rPr lang="en-US" altLang="zh-CN" dirty="0"/>
              <a:t>CODE ENDS</a:t>
            </a:r>
            <a:r>
              <a:rPr lang="zh-CN" altLang="en-US" dirty="0"/>
              <a:t>后面</a:t>
            </a:r>
            <a:endParaRPr lang="en-US" altLang="zh-CN" dirty="0"/>
          </a:p>
          <a:p>
            <a:pPr>
              <a:buNone/>
            </a:pPr>
            <a:endParaRPr lang="en-US" altLang="zh-CN" dirty="0"/>
          </a:p>
          <a:p>
            <a:pPr>
              <a:buNone/>
            </a:pPr>
            <a:r>
              <a:rPr lang="zh-CN" altLang="en-US" dirty="0"/>
              <a:t>重点</a:t>
            </a:r>
            <a:r>
              <a:rPr lang="en-US" altLang="zh-CN" dirty="0"/>
              <a:t>3</a:t>
            </a:r>
            <a:r>
              <a:rPr lang="zh-CN" altLang="en-US" dirty="0"/>
              <a:t>：记住初始化数据段寄存器</a:t>
            </a:r>
            <a:endParaRPr lang="en-US" altLang="zh-CN" dirty="0"/>
          </a:p>
          <a:p>
            <a:pPr>
              <a:buNone/>
            </a:pPr>
            <a:endParaRPr lang="en-US" altLang="zh-CN" dirty="0"/>
          </a:p>
          <a:p>
            <a:pPr>
              <a:buNone/>
            </a:pPr>
            <a:r>
              <a:rPr lang="zh-CN" altLang="en-US" dirty="0"/>
              <a:t>重点</a:t>
            </a:r>
            <a:r>
              <a:rPr lang="en-US" altLang="zh-CN" dirty="0"/>
              <a:t>4</a:t>
            </a:r>
            <a:r>
              <a:rPr lang="zh-CN" altLang="en-US" dirty="0"/>
              <a:t>：程序结束时记得使用</a:t>
            </a:r>
            <a:r>
              <a:rPr lang="en-US" altLang="zh-CN" dirty="0"/>
              <a:t>4C</a:t>
            </a:r>
            <a:r>
              <a:rPr lang="zh-CN" altLang="en-US" dirty="0"/>
              <a:t>号函数和</a:t>
            </a:r>
            <a:r>
              <a:rPr lang="en-US" altLang="zh-CN" dirty="0"/>
              <a:t>INT 21H </a:t>
            </a:r>
            <a:r>
              <a:rPr lang="zh-CN" altLang="en-US" dirty="0"/>
              <a:t>退出</a:t>
            </a:r>
            <a:endParaRPr lang="en-US" altLang="zh-CN" dirty="0"/>
          </a:p>
          <a:p>
            <a:endParaRPr lang="zh-CN" altLang="en-US" dirty="0"/>
          </a:p>
        </p:txBody>
      </p:sp>
    </p:spTree>
    <p:extLst>
      <p:ext uri="{BB962C8B-B14F-4D97-AF65-F5344CB8AC3E}">
        <p14:creationId xmlns:p14="http://schemas.microsoft.com/office/powerpoint/2010/main" val="216541130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pPr>
              <a:buNone/>
            </a:pPr>
            <a:r>
              <a:rPr lang="en-US" altLang="zh-CN" dirty="0"/>
              <a:t>2. </a:t>
            </a:r>
            <a:r>
              <a:rPr lang="zh-CN" altLang="en-US" dirty="0"/>
              <a:t>数据段定义变量后在内存中的存放形式：</a:t>
            </a:r>
            <a:endParaRPr lang="en-US" altLang="zh-CN" dirty="0"/>
          </a:p>
          <a:p>
            <a:pPr>
              <a:buNone/>
            </a:pPr>
            <a:r>
              <a:rPr lang="zh-CN" altLang="en-US" dirty="0"/>
              <a:t>重点</a:t>
            </a:r>
            <a:r>
              <a:rPr lang="en-US" altLang="zh-CN" dirty="0"/>
              <a:t>1 </a:t>
            </a:r>
            <a:r>
              <a:rPr lang="zh-CN" altLang="en-US" dirty="0"/>
              <a:t>、要求掌握变量类型：</a:t>
            </a:r>
            <a:r>
              <a:rPr lang="en-US" altLang="zh-CN" dirty="0"/>
              <a:t>DB</a:t>
            </a:r>
            <a:r>
              <a:rPr lang="zh-CN" altLang="en-US" dirty="0"/>
              <a:t>和</a:t>
            </a:r>
            <a:r>
              <a:rPr lang="en-US" altLang="zh-CN" dirty="0"/>
              <a:t>DW</a:t>
            </a:r>
          </a:p>
          <a:p>
            <a:pPr>
              <a:buNone/>
            </a:pPr>
            <a:r>
              <a:rPr lang="en-US" altLang="zh-CN" dirty="0"/>
              <a:t>DB</a:t>
            </a:r>
            <a:r>
              <a:rPr lang="zh-CN" altLang="en-US" dirty="0"/>
              <a:t>：占用一个字节，定义</a:t>
            </a:r>
            <a:r>
              <a:rPr lang="en-US" altLang="zh-CN" dirty="0"/>
              <a:t>2</a:t>
            </a:r>
            <a:r>
              <a:rPr lang="zh-CN" altLang="en-US" dirty="0"/>
              <a:t>位</a:t>
            </a:r>
            <a:r>
              <a:rPr lang="en-US" altLang="zh-CN" dirty="0"/>
              <a:t>16</a:t>
            </a:r>
            <a:r>
              <a:rPr lang="zh-CN" altLang="en-US" dirty="0"/>
              <a:t>进制数</a:t>
            </a:r>
            <a:endParaRPr lang="en-US" altLang="zh-CN" dirty="0"/>
          </a:p>
          <a:p>
            <a:pPr>
              <a:buNone/>
            </a:pPr>
            <a:r>
              <a:rPr lang="en-US" altLang="zh-CN" dirty="0"/>
              <a:t>DW</a:t>
            </a:r>
            <a:r>
              <a:rPr lang="zh-CN" altLang="en-US" dirty="0"/>
              <a:t>：占用两个字节，定义</a:t>
            </a:r>
            <a:r>
              <a:rPr lang="en-US" altLang="zh-CN" dirty="0"/>
              <a:t>4</a:t>
            </a:r>
            <a:r>
              <a:rPr lang="zh-CN" altLang="en-US" dirty="0"/>
              <a:t>位</a:t>
            </a:r>
            <a:r>
              <a:rPr lang="en-US" altLang="zh-CN" dirty="0"/>
              <a:t>16</a:t>
            </a:r>
            <a:r>
              <a:rPr lang="zh-CN" altLang="en-US" dirty="0"/>
              <a:t>进制数</a:t>
            </a:r>
            <a:endParaRPr lang="en-US" altLang="zh-CN" dirty="0"/>
          </a:p>
          <a:p>
            <a:pPr>
              <a:buNone/>
            </a:pPr>
            <a:r>
              <a:rPr lang="zh-CN" altLang="en-US" dirty="0"/>
              <a:t>定义字符串：仅使用</a:t>
            </a:r>
            <a:r>
              <a:rPr lang="en-US" altLang="zh-CN" dirty="0"/>
              <a:t>DB</a:t>
            </a:r>
            <a:r>
              <a:rPr lang="zh-CN" altLang="en-US" dirty="0"/>
              <a:t>来定义，每一个字符（包括空格）占用一个字节</a:t>
            </a:r>
            <a:endParaRPr lang="en-US" altLang="zh-CN" dirty="0"/>
          </a:p>
          <a:p>
            <a:pPr>
              <a:buNone/>
            </a:pPr>
            <a:r>
              <a:rPr lang="en-US" altLang="zh-CN" dirty="0"/>
              <a:t>DW</a:t>
            </a:r>
            <a:r>
              <a:rPr lang="zh-CN" altLang="en-US" dirty="0"/>
              <a:t>型数据存放和访问</a:t>
            </a:r>
            <a:r>
              <a:rPr lang="zh-CN" altLang="en-US" dirty="0">
                <a:solidFill>
                  <a:srgbClr val="FF0000"/>
                </a:solidFill>
              </a:rPr>
              <a:t>遵循高高低低的原则</a:t>
            </a:r>
            <a:r>
              <a:rPr lang="zh-CN" altLang="en-US" dirty="0"/>
              <a:t>（忘了回去看前面的要点），连续定义的变量，在内存中连续存放。</a:t>
            </a:r>
          </a:p>
          <a:p>
            <a:endParaRPr lang="zh-CN" altLang="en-US" dirty="0"/>
          </a:p>
        </p:txBody>
      </p:sp>
    </p:spTree>
    <p:extLst>
      <p:ext uri="{BB962C8B-B14F-4D97-AF65-F5344CB8AC3E}">
        <p14:creationId xmlns:p14="http://schemas.microsoft.com/office/powerpoint/2010/main" val="19340397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fontScale="70000" lnSpcReduction="20000"/>
          </a:bodyPr>
          <a:lstStyle/>
          <a:p>
            <a:r>
              <a:rPr lang="zh-CN" altLang="en-US" dirty="0"/>
              <a:t>汇编语言中变量的本质：变量名真正的意义是内存单元的一个“标签”，它具有两个属性：</a:t>
            </a:r>
            <a:endParaRPr lang="en-US" altLang="zh-CN" dirty="0"/>
          </a:p>
          <a:p>
            <a:pPr>
              <a:buNone/>
            </a:pPr>
            <a:r>
              <a:rPr lang="en-US" altLang="zh-CN" dirty="0"/>
              <a:t>    </a:t>
            </a:r>
            <a:r>
              <a:rPr lang="zh-CN" altLang="en-US" dirty="0"/>
              <a:t>地址属性：变量名本身代表着一个内存地址，而不是内存中的数据。注意：是</a:t>
            </a:r>
            <a:r>
              <a:rPr lang="zh-CN" altLang="en-US" dirty="0">
                <a:solidFill>
                  <a:srgbClr val="FF0000"/>
                </a:solidFill>
              </a:rPr>
              <a:t>偏移</a:t>
            </a:r>
            <a:r>
              <a:rPr lang="zh-CN" altLang="en-US" dirty="0"/>
              <a:t>地址而不是物理地址。</a:t>
            </a:r>
            <a:endParaRPr lang="en-US" altLang="zh-CN" dirty="0"/>
          </a:p>
          <a:p>
            <a:pPr>
              <a:buNone/>
            </a:pPr>
            <a:r>
              <a:rPr lang="en-US" altLang="zh-CN" dirty="0"/>
              <a:t>   </a:t>
            </a:r>
            <a:r>
              <a:rPr lang="zh-CN" altLang="en-US" dirty="0"/>
              <a:t>类型属性：通过变量名去访问内存，访问的内存</a:t>
            </a:r>
            <a:r>
              <a:rPr lang="zh-CN" altLang="en-US" dirty="0">
                <a:solidFill>
                  <a:srgbClr val="FF0000"/>
                </a:solidFill>
              </a:rPr>
              <a:t>单元数</a:t>
            </a:r>
            <a:r>
              <a:rPr lang="zh-CN" altLang="en-US" dirty="0"/>
              <a:t>和</a:t>
            </a:r>
            <a:r>
              <a:rPr lang="zh-CN" altLang="en-US" dirty="0">
                <a:solidFill>
                  <a:srgbClr val="FF0000"/>
                </a:solidFill>
              </a:rPr>
              <a:t>变量类型</a:t>
            </a:r>
            <a:r>
              <a:rPr lang="zh-CN" altLang="en-US" dirty="0"/>
              <a:t>一致，即使用变量</a:t>
            </a:r>
            <a:r>
              <a:rPr lang="en-US" altLang="zh-CN" dirty="0"/>
              <a:t>A</a:t>
            </a:r>
            <a:r>
              <a:rPr lang="zh-CN" altLang="en-US" dirty="0"/>
              <a:t>去取内存的数，取一个单元，使用变量</a:t>
            </a:r>
            <a:r>
              <a:rPr lang="en-US" altLang="zh-CN" dirty="0"/>
              <a:t>B</a:t>
            </a:r>
            <a:r>
              <a:rPr lang="zh-CN" altLang="en-US" dirty="0"/>
              <a:t>，则取两个单元</a:t>
            </a:r>
            <a:endParaRPr lang="en-US" altLang="zh-CN" dirty="0"/>
          </a:p>
          <a:p>
            <a:pPr>
              <a:buNone/>
            </a:pPr>
            <a:r>
              <a:rPr lang="en-US" altLang="zh-CN" dirty="0"/>
              <a:t>     MOV AL, A    AL = 11H</a:t>
            </a:r>
          </a:p>
          <a:p>
            <a:pPr>
              <a:buNone/>
            </a:pPr>
            <a:r>
              <a:rPr lang="en-US" altLang="zh-CN" dirty="0"/>
              <a:t>     MOV AL, A+1  AL = 34H</a:t>
            </a:r>
          </a:p>
          <a:p>
            <a:pPr>
              <a:buNone/>
            </a:pPr>
            <a:r>
              <a:rPr lang="en-US" altLang="zh-CN" dirty="0"/>
              <a:t>     MOV AL, A+4  AL = 02H</a:t>
            </a:r>
          </a:p>
          <a:p>
            <a:pPr>
              <a:buNone/>
            </a:pPr>
            <a:r>
              <a:rPr lang="en-US" altLang="zh-CN" dirty="0"/>
              <a:t>     MOV  AL, C+1  AL = 02H</a:t>
            </a:r>
          </a:p>
          <a:p>
            <a:pPr>
              <a:buNone/>
            </a:pPr>
            <a:r>
              <a:rPr lang="en-US" altLang="zh-CN" dirty="0"/>
              <a:t>     MOV AX, B   AX = 1234H</a:t>
            </a:r>
          </a:p>
          <a:p>
            <a:pPr>
              <a:buNone/>
            </a:pPr>
            <a:r>
              <a:rPr lang="en-US" altLang="zh-CN" dirty="0"/>
              <a:t>     MOV AX, B+1  AX = 1312H</a:t>
            </a:r>
          </a:p>
          <a:p>
            <a:pPr>
              <a:buNone/>
            </a:pPr>
            <a:r>
              <a:rPr lang="zh-CN" altLang="en-US" dirty="0"/>
              <a:t>思考题：想想为什么是这些结果</a:t>
            </a:r>
            <a:r>
              <a:rPr lang="en-US" altLang="zh-CN" dirty="0"/>
              <a:t>?</a:t>
            </a:r>
            <a:r>
              <a:rPr lang="zh-CN" altLang="en-US" dirty="0"/>
              <a:t>理解使用变量名来访问内存的方法。注意不同变量类型对应不同大小的寄存器。</a:t>
            </a:r>
            <a:endParaRPr lang="en-US" altLang="zh-CN" dirty="0"/>
          </a:p>
          <a:p>
            <a:endParaRPr lang="zh-CN" altLang="en-US" dirty="0"/>
          </a:p>
        </p:txBody>
      </p:sp>
    </p:spTree>
    <p:extLst>
      <p:ext uri="{BB962C8B-B14F-4D97-AF65-F5344CB8AC3E}">
        <p14:creationId xmlns:p14="http://schemas.microsoft.com/office/powerpoint/2010/main" val="23228875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fontScale="70000" lnSpcReduction="20000"/>
          </a:bodyPr>
          <a:lstStyle/>
          <a:p>
            <a:r>
              <a:rPr lang="zh-CN" altLang="en-US" dirty="0"/>
              <a:t>汇编语言中变量的本质：变量名真正的意义是内存单元的一个“标签”，它具有两个属性：</a:t>
            </a:r>
            <a:endParaRPr lang="en-US" altLang="zh-CN" dirty="0"/>
          </a:p>
          <a:p>
            <a:pPr>
              <a:buNone/>
            </a:pPr>
            <a:r>
              <a:rPr lang="en-US" altLang="zh-CN" dirty="0"/>
              <a:t>    </a:t>
            </a:r>
            <a:r>
              <a:rPr lang="zh-CN" altLang="en-US" dirty="0"/>
              <a:t>地址属性：变量名本身代表着一个内存地址，而不是内存中的数据。注意：是</a:t>
            </a:r>
            <a:r>
              <a:rPr lang="zh-CN" altLang="en-US" dirty="0">
                <a:solidFill>
                  <a:srgbClr val="FF0000"/>
                </a:solidFill>
              </a:rPr>
              <a:t>偏移</a:t>
            </a:r>
            <a:r>
              <a:rPr lang="zh-CN" altLang="en-US" dirty="0"/>
              <a:t>地址而不是物理地址。</a:t>
            </a:r>
            <a:endParaRPr lang="en-US" altLang="zh-CN" dirty="0"/>
          </a:p>
          <a:p>
            <a:pPr>
              <a:buNone/>
            </a:pPr>
            <a:r>
              <a:rPr lang="en-US" altLang="zh-CN" dirty="0"/>
              <a:t>   </a:t>
            </a:r>
            <a:r>
              <a:rPr lang="zh-CN" altLang="en-US" dirty="0"/>
              <a:t>类型属性：通过变量名去访问内存，访问的内存</a:t>
            </a:r>
            <a:r>
              <a:rPr lang="zh-CN" altLang="en-US" dirty="0">
                <a:solidFill>
                  <a:srgbClr val="FF0000"/>
                </a:solidFill>
              </a:rPr>
              <a:t>单元数</a:t>
            </a:r>
            <a:r>
              <a:rPr lang="zh-CN" altLang="en-US" dirty="0"/>
              <a:t>和</a:t>
            </a:r>
            <a:r>
              <a:rPr lang="zh-CN" altLang="en-US" dirty="0">
                <a:solidFill>
                  <a:srgbClr val="FF0000"/>
                </a:solidFill>
              </a:rPr>
              <a:t>变量类型</a:t>
            </a:r>
            <a:r>
              <a:rPr lang="zh-CN" altLang="en-US" dirty="0"/>
              <a:t>一致，即使用变量</a:t>
            </a:r>
            <a:r>
              <a:rPr lang="en-US" altLang="zh-CN" dirty="0"/>
              <a:t>A</a:t>
            </a:r>
            <a:r>
              <a:rPr lang="zh-CN" altLang="en-US" dirty="0"/>
              <a:t>去取内存的数，取一个单元，使用变量</a:t>
            </a:r>
            <a:r>
              <a:rPr lang="en-US" altLang="zh-CN" dirty="0"/>
              <a:t>B</a:t>
            </a:r>
            <a:r>
              <a:rPr lang="zh-CN" altLang="en-US" dirty="0"/>
              <a:t>，则取两个单元</a:t>
            </a:r>
            <a:endParaRPr lang="en-US" altLang="zh-CN" dirty="0"/>
          </a:p>
          <a:p>
            <a:pPr>
              <a:buNone/>
            </a:pPr>
            <a:r>
              <a:rPr lang="en-US" altLang="zh-CN" dirty="0"/>
              <a:t>     MOV AL, A    AL = 11H</a:t>
            </a:r>
          </a:p>
          <a:p>
            <a:pPr>
              <a:buNone/>
            </a:pPr>
            <a:r>
              <a:rPr lang="en-US" altLang="zh-CN" dirty="0"/>
              <a:t>     MOV AL, A+1  AL = 34H</a:t>
            </a:r>
          </a:p>
          <a:p>
            <a:pPr>
              <a:buNone/>
            </a:pPr>
            <a:r>
              <a:rPr lang="en-US" altLang="zh-CN" dirty="0"/>
              <a:t>     MOV AL, A+4  AL = 02H</a:t>
            </a:r>
          </a:p>
          <a:p>
            <a:pPr>
              <a:buNone/>
            </a:pPr>
            <a:r>
              <a:rPr lang="en-US" altLang="zh-CN" dirty="0"/>
              <a:t>     MOV  AL, C+1  AL = 02H</a:t>
            </a:r>
          </a:p>
          <a:p>
            <a:pPr>
              <a:buNone/>
            </a:pPr>
            <a:r>
              <a:rPr lang="en-US" altLang="zh-CN" dirty="0"/>
              <a:t>     MOV AX, B   AX = 1234H</a:t>
            </a:r>
          </a:p>
          <a:p>
            <a:pPr>
              <a:buNone/>
            </a:pPr>
            <a:r>
              <a:rPr lang="en-US" altLang="zh-CN" dirty="0"/>
              <a:t>     MOV AX, B+1  AX = 1312H</a:t>
            </a:r>
          </a:p>
          <a:p>
            <a:pPr>
              <a:buNone/>
            </a:pPr>
            <a:r>
              <a:rPr lang="zh-CN" altLang="en-US" dirty="0"/>
              <a:t>思考题：想想为什么是这些结果</a:t>
            </a:r>
            <a:r>
              <a:rPr lang="en-US" altLang="zh-CN" dirty="0"/>
              <a:t>?</a:t>
            </a:r>
            <a:r>
              <a:rPr lang="zh-CN" altLang="en-US" dirty="0"/>
              <a:t>理解使用变量名来访问内存的方法。注意不同变量类型对应不同大小的寄存器。</a:t>
            </a:r>
            <a:endParaRPr lang="en-US" altLang="zh-CN" dirty="0"/>
          </a:p>
          <a:p>
            <a:endParaRPr lang="zh-CN" altLang="en-US" dirty="0"/>
          </a:p>
        </p:txBody>
      </p:sp>
    </p:spTree>
    <p:extLst>
      <p:ext uri="{BB962C8B-B14F-4D97-AF65-F5344CB8AC3E}">
        <p14:creationId xmlns:p14="http://schemas.microsoft.com/office/powerpoint/2010/main" val="193954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pPr>
              <a:buNone/>
            </a:pPr>
            <a:r>
              <a:rPr lang="zh-CN" altLang="en-US" dirty="0" smtClean="0"/>
              <a:t>分支</a:t>
            </a:r>
            <a:r>
              <a:rPr lang="zh-CN" altLang="en-US" dirty="0"/>
              <a:t>程序设计：</a:t>
            </a:r>
            <a:endParaRPr lang="en-US" altLang="zh-CN" dirty="0"/>
          </a:p>
          <a:p>
            <a:pPr marL="514350" indent="-514350">
              <a:buNone/>
            </a:pPr>
            <a:r>
              <a:rPr lang="en-US" altLang="zh-CN" dirty="0"/>
              <a:t>1.</a:t>
            </a:r>
            <a:r>
              <a:rPr lang="zh-CN" altLang="en-US" dirty="0"/>
              <a:t>改变指令的执行顺序</a:t>
            </a:r>
            <a:r>
              <a:rPr lang="en-US" altLang="zh-CN" dirty="0"/>
              <a:t>:</a:t>
            </a:r>
          </a:p>
          <a:p>
            <a:pPr marL="514350" indent="-514350">
              <a:buNone/>
            </a:pPr>
            <a:r>
              <a:rPr lang="zh-CN" altLang="en-US" dirty="0"/>
              <a:t>在正常情况下，汇编语言指令是通过修改</a:t>
            </a:r>
            <a:r>
              <a:rPr lang="en-US" altLang="zh-CN" dirty="0"/>
              <a:t>IP</a:t>
            </a:r>
            <a:r>
              <a:rPr lang="zh-CN" altLang="en-US" dirty="0"/>
              <a:t>寄存器的值，一条条向下执行的（回想第一章，如何修改的？）</a:t>
            </a:r>
            <a:endParaRPr lang="en-US" altLang="zh-CN" dirty="0"/>
          </a:p>
          <a:p>
            <a:pPr marL="514350" indent="-514350">
              <a:buNone/>
            </a:pPr>
            <a:r>
              <a:rPr lang="zh-CN" altLang="en-US" dirty="0"/>
              <a:t>但是，如果要实现</a:t>
            </a:r>
            <a:r>
              <a:rPr lang="en-US" altLang="zh-CN" dirty="0"/>
              <a:t>if</a:t>
            </a:r>
            <a:r>
              <a:rPr lang="zh-CN" altLang="en-US" dirty="0"/>
              <a:t>语句或循环语句，就需要改变指令的执行顺序，即指令跳转。</a:t>
            </a:r>
            <a:endParaRPr lang="en-US" altLang="zh-CN" dirty="0"/>
          </a:p>
          <a:p>
            <a:pPr marL="514350" indent="-514350">
              <a:buNone/>
            </a:pPr>
            <a:r>
              <a:rPr lang="zh-CN" altLang="en-US" dirty="0"/>
              <a:t>本章所有条件转移语句的工作本质就是修改</a:t>
            </a:r>
            <a:r>
              <a:rPr lang="en-US" altLang="zh-CN" dirty="0"/>
              <a:t>IP</a:t>
            </a:r>
            <a:r>
              <a:rPr lang="zh-CN" altLang="en-US" dirty="0"/>
              <a:t>寄存器，使之改变指令执行顺序，转移到相应语句去执行。</a:t>
            </a:r>
          </a:p>
          <a:p>
            <a:endParaRPr lang="zh-CN" altLang="en-US" dirty="0"/>
          </a:p>
        </p:txBody>
      </p:sp>
    </p:spTree>
    <p:extLst>
      <p:ext uri="{BB962C8B-B14F-4D97-AF65-F5344CB8AC3E}">
        <p14:creationId xmlns:p14="http://schemas.microsoft.com/office/powerpoint/2010/main" val="1624812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r>
              <a:rPr lang="zh-CN" altLang="en-US" dirty="0"/>
              <a:t>转移到指定指令的方法：指令标号</a:t>
            </a:r>
            <a:endParaRPr lang="en-US" altLang="zh-CN" dirty="0"/>
          </a:p>
          <a:p>
            <a:pPr>
              <a:buNone/>
            </a:pPr>
            <a:r>
              <a:rPr lang="zh-CN" altLang="en-US" dirty="0"/>
              <a:t>指令标号的形式如下：</a:t>
            </a:r>
            <a:endParaRPr lang="en-US" altLang="zh-CN" dirty="0"/>
          </a:p>
          <a:p>
            <a:pPr>
              <a:buNone/>
            </a:pPr>
            <a:r>
              <a:rPr lang="zh-CN" altLang="en-US" dirty="0"/>
              <a:t>标号： 指令</a:t>
            </a:r>
            <a:endParaRPr lang="en-US" altLang="zh-CN" dirty="0"/>
          </a:p>
          <a:p>
            <a:pPr>
              <a:buNone/>
            </a:pPr>
            <a:r>
              <a:rPr lang="zh-CN" altLang="en-US" dirty="0"/>
              <a:t>标号的本质是指令所在的内存地址。</a:t>
            </a:r>
            <a:endParaRPr lang="en-US" altLang="zh-CN" dirty="0"/>
          </a:p>
          <a:p>
            <a:pPr>
              <a:buNone/>
            </a:pPr>
            <a:r>
              <a:rPr lang="zh-CN" altLang="en-US" dirty="0"/>
              <a:t>条件转移语句后跟标号，就把</a:t>
            </a:r>
            <a:r>
              <a:rPr lang="en-US" altLang="zh-CN" dirty="0" err="1"/>
              <a:t>ip</a:t>
            </a:r>
            <a:r>
              <a:rPr lang="zh-CN" altLang="en-US" dirty="0"/>
              <a:t>寄存器的值修改为标号所代表的内存地址，于是就跳到了标号所在的指令作为下一条执行指令。</a:t>
            </a:r>
            <a:endParaRPr lang="en-US" altLang="zh-CN" dirty="0"/>
          </a:p>
          <a:p>
            <a:pPr>
              <a:buNone/>
            </a:pPr>
            <a:endParaRPr lang="en-US" altLang="zh-CN" dirty="0"/>
          </a:p>
          <a:p>
            <a:pPr>
              <a:buNone/>
            </a:pPr>
            <a:r>
              <a:rPr lang="zh-CN" altLang="en-US" dirty="0"/>
              <a:t>注意：只要求掌握使用跳转语句</a:t>
            </a:r>
            <a:r>
              <a:rPr lang="en-US" altLang="zh-CN" dirty="0"/>
              <a:t>+</a:t>
            </a:r>
            <a:r>
              <a:rPr lang="zh-CN" altLang="en-US" dirty="0"/>
              <a:t>标号进行指令转移的方法，书上其他转移的方式不用掌握。</a:t>
            </a:r>
          </a:p>
          <a:p>
            <a:endParaRPr lang="zh-CN" altLang="en-US" dirty="0"/>
          </a:p>
        </p:txBody>
      </p:sp>
    </p:spTree>
    <p:extLst>
      <p:ext uri="{BB962C8B-B14F-4D97-AF65-F5344CB8AC3E}">
        <p14:creationId xmlns:p14="http://schemas.microsoft.com/office/powerpoint/2010/main" val="39989940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r>
              <a:rPr lang="zh-CN" altLang="en-US" dirty="0"/>
              <a:t>无条件转移指令</a:t>
            </a:r>
            <a:r>
              <a:rPr lang="en-US" altLang="zh-CN" dirty="0"/>
              <a:t>JMP:</a:t>
            </a:r>
            <a:r>
              <a:rPr lang="zh-CN" altLang="en-US" dirty="0"/>
              <a:t>无需任何条件，直接跳转到标号所在位置，通常用于处理不同分支，防止一个分支执行完后继续执行下一个分支</a:t>
            </a:r>
            <a:r>
              <a:rPr lang="en-US" altLang="zh-CN" dirty="0"/>
              <a:t>:</a:t>
            </a:r>
          </a:p>
          <a:p>
            <a:pPr>
              <a:buNone/>
            </a:pPr>
            <a:r>
              <a:rPr lang="en-US" altLang="zh-CN" dirty="0"/>
              <a:t>   L1</a:t>
            </a:r>
            <a:r>
              <a:rPr lang="zh-CN" altLang="en-US" dirty="0"/>
              <a:t>：</a:t>
            </a:r>
            <a:r>
              <a:rPr lang="en-US" altLang="zh-CN" dirty="0"/>
              <a:t>…………</a:t>
            </a:r>
          </a:p>
          <a:p>
            <a:pPr>
              <a:buNone/>
            </a:pPr>
            <a:r>
              <a:rPr lang="en-US" altLang="zh-CN" dirty="0"/>
              <a:t>            ………… //if ……</a:t>
            </a:r>
          </a:p>
          <a:p>
            <a:pPr>
              <a:buNone/>
            </a:pPr>
            <a:r>
              <a:rPr lang="en-US" altLang="zh-CN" dirty="0"/>
              <a:t>        </a:t>
            </a:r>
            <a:r>
              <a:rPr lang="en-US" altLang="zh-CN" dirty="0">
                <a:solidFill>
                  <a:srgbClr val="FF0000"/>
                </a:solidFill>
              </a:rPr>
              <a:t>JMP end  //</a:t>
            </a:r>
            <a:r>
              <a:rPr lang="zh-CN" altLang="en-US" dirty="0">
                <a:solidFill>
                  <a:srgbClr val="FF0000"/>
                </a:solidFill>
              </a:rPr>
              <a:t>思考题：如果没有这一句会怎么样？</a:t>
            </a:r>
            <a:endParaRPr lang="en-US" altLang="zh-CN" dirty="0">
              <a:solidFill>
                <a:srgbClr val="FF0000"/>
              </a:solidFill>
            </a:endParaRPr>
          </a:p>
          <a:p>
            <a:pPr>
              <a:buNone/>
            </a:pPr>
            <a:r>
              <a:rPr lang="en-US" altLang="zh-CN" dirty="0"/>
              <a:t>   L2:  …………</a:t>
            </a:r>
          </a:p>
          <a:p>
            <a:pPr>
              <a:buNone/>
            </a:pPr>
            <a:r>
              <a:rPr lang="en-US" altLang="zh-CN" dirty="0"/>
              <a:t>          ……………//else</a:t>
            </a:r>
          </a:p>
          <a:p>
            <a:pPr>
              <a:buNone/>
            </a:pPr>
            <a:r>
              <a:rPr lang="en-US" altLang="zh-CN" dirty="0"/>
              <a:t>  end:…………. //if….else……</a:t>
            </a:r>
            <a:r>
              <a:rPr lang="zh-CN" altLang="en-US" dirty="0"/>
              <a:t>之后的语句</a:t>
            </a:r>
          </a:p>
          <a:p>
            <a:endParaRPr lang="zh-CN" altLang="en-US" dirty="0"/>
          </a:p>
        </p:txBody>
      </p:sp>
    </p:spTree>
    <p:extLst>
      <p:ext uri="{BB962C8B-B14F-4D97-AF65-F5344CB8AC3E}">
        <p14:creationId xmlns:p14="http://schemas.microsoft.com/office/powerpoint/2010/main" val="36200984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fontScale="92500"/>
          </a:bodyPr>
          <a:lstStyle/>
          <a:p>
            <a:r>
              <a:rPr lang="en-US" altLang="zh-CN" dirty="0"/>
              <a:t>CMP</a:t>
            </a:r>
            <a:r>
              <a:rPr lang="zh-CN" altLang="en-US" dirty="0"/>
              <a:t>指令与条件转移语句的结合</a:t>
            </a:r>
            <a:r>
              <a:rPr lang="en-US" altLang="zh-CN" dirty="0"/>
              <a:t>:</a:t>
            </a:r>
            <a:r>
              <a:rPr lang="zh-CN" altLang="en-US" dirty="0"/>
              <a:t>条件转移语句的工作原理，是以上一条指令的执行结果作为条件，从而决定是否转移到标号所在的指令取执行，因此条件转移指令的上一条指令通常是</a:t>
            </a:r>
            <a:r>
              <a:rPr lang="en-US" altLang="zh-CN" dirty="0"/>
              <a:t>CMP</a:t>
            </a:r>
            <a:r>
              <a:rPr lang="zh-CN" altLang="en-US" dirty="0"/>
              <a:t>指令，即比较指令。</a:t>
            </a:r>
            <a:endParaRPr lang="en-US" altLang="zh-CN" dirty="0"/>
          </a:p>
          <a:p>
            <a:pPr>
              <a:buNone/>
            </a:pPr>
            <a:r>
              <a:rPr lang="en-US" altLang="zh-CN" dirty="0"/>
              <a:t>    CMP AX,BX</a:t>
            </a:r>
          </a:p>
          <a:p>
            <a:pPr>
              <a:buNone/>
            </a:pPr>
            <a:r>
              <a:rPr lang="en-US" altLang="zh-CN" dirty="0"/>
              <a:t>     JE L1    (</a:t>
            </a:r>
            <a:r>
              <a:rPr lang="zh-CN" altLang="en-US" dirty="0"/>
              <a:t>如</a:t>
            </a:r>
            <a:r>
              <a:rPr lang="en-US" altLang="zh-CN" dirty="0"/>
              <a:t>AX</a:t>
            </a:r>
            <a:r>
              <a:rPr lang="zh-CN" altLang="en-US" dirty="0"/>
              <a:t>与</a:t>
            </a:r>
            <a:r>
              <a:rPr lang="en-US" altLang="zh-CN" dirty="0"/>
              <a:t>BX</a:t>
            </a:r>
            <a:r>
              <a:rPr lang="zh-CN" altLang="en-US" dirty="0"/>
              <a:t>相等，转移到</a:t>
            </a:r>
            <a:r>
              <a:rPr lang="en-US" altLang="zh-CN" dirty="0"/>
              <a:t>L1</a:t>
            </a:r>
            <a:r>
              <a:rPr lang="zh-CN" altLang="en-US" dirty="0"/>
              <a:t>所在指令执行，否则继续向下执行</a:t>
            </a:r>
            <a:r>
              <a:rPr lang="en-US" altLang="zh-CN" dirty="0"/>
              <a:t>)</a:t>
            </a:r>
          </a:p>
          <a:p>
            <a:pPr>
              <a:buNone/>
            </a:pPr>
            <a:r>
              <a:rPr lang="en-US" altLang="zh-CN" dirty="0"/>
              <a:t>    JA/JAE/JB/JBE L1</a:t>
            </a:r>
            <a:r>
              <a:rPr lang="zh-CN" altLang="en-US" dirty="0"/>
              <a:t>（如</a:t>
            </a:r>
            <a:r>
              <a:rPr lang="en-US" altLang="zh-CN" dirty="0"/>
              <a:t>AX</a:t>
            </a:r>
            <a:r>
              <a:rPr lang="zh-CN" altLang="en-US" dirty="0"/>
              <a:t>大于</a:t>
            </a:r>
            <a:r>
              <a:rPr lang="en-US" altLang="zh-CN" dirty="0"/>
              <a:t>/</a:t>
            </a:r>
            <a:r>
              <a:rPr lang="zh-CN" altLang="en-US" dirty="0"/>
              <a:t>大于等于</a:t>
            </a:r>
            <a:r>
              <a:rPr lang="en-US" altLang="zh-CN" dirty="0"/>
              <a:t>/</a:t>
            </a:r>
            <a:r>
              <a:rPr lang="zh-CN" altLang="en-US" dirty="0"/>
              <a:t>小于</a:t>
            </a:r>
            <a:r>
              <a:rPr lang="en-US" altLang="zh-CN" dirty="0"/>
              <a:t>/</a:t>
            </a:r>
            <a:r>
              <a:rPr lang="zh-CN" altLang="en-US" dirty="0"/>
              <a:t>小于等于</a:t>
            </a:r>
            <a:r>
              <a:rPr lang="en-US" altLang="zh-CN" dirty="0"/>
              <a:t>BX</a:t>
            </a:r>
            <a:r>
              <a:rPr lang="zh-CN" altLang="en-US" dirty="0"/>
              <a:t>（作为</a:t>
            </a:r>
            <a:r>
              <a:rPr lang="zh-CN" altLang="en-US" dirty="0">
                <a:solidFill>
                  <a:srgbClr val="FF0000"/>
                </a:solidFill>
              </a:rPr>
              <a:t>无符号数</a:t>
            </a:r>
            <a:r>
              <a:rPr lang="zh-CN" altLang="en-US" dirty="0"/>
              <a:t>），则转移到</a:t>
            </a:r>
            <a:r>
              <a:rPr lang="en-US" altLang="zh-CN" dirty="0"/>
              <a:t>L1</a:t>
            </a:r>
            <a:r>
              <a:rPr lang="zh-CN" altLang="en-US" dirty="0"/>
              <a:t>所在指令执行，否则继续向下执行）</a:t>
            </a:r>
            <a:endParaRPr lang="en-US" altLang="zh-CN" dirty="0"/>
          </a:p>
          <a:p>
            <a:pPr>
              <a:buNone/>
            </a:pPr>
            <a:r>
              <a:rPr lang="en-US" altLang="zh-CN" dirty="0"/>
              <a:t>    JG/JGE/JL/JLE L1</a:t>
            </a:r>
            <a:r>
              <a:rPr lang="zh-CN" altLang="en-US" dirty="0"/>
              <a:t> （如</a:t>
            </a:r>
            <a:r>
              <a:rPr lang="en-US" altLang="zh-CN" dirty="0"/>
              <a:t>AX</a:t>
            </a:r>
            <a:r>
              <a:rPr lang="zh-CN" altLang="en-US" dirty="0"/>
              <a:t>大于</a:t>
            </a:r>
            <a:r>
              <a:rPr lang="en-US" altLang="zh-CN" dirty="0"/>
              <a:t>/</a:t>
            </a:r>
            <a:r>
              <a:rPr lang="zh-CN" altLang="en-US" dirty="0"/>
              <a:t>大于等于</a:t>
            </a:r>
            <a:r>
              <a:rPr lang="en-US" altLang="zh-CN" dirty="0"/>
              <a:t>/</a:t>
            </a:r>
            <a:r>
              <a:rPr lang="zh-CN" altLang="en-US" dirty="0"/>
              <a:t>小于</a:t>
            </a:r>
            <a:r>
              <a:rPr lang="en-US" altLang="zh-CN" dirty="0"/>
              <a:t>/</a:t>
            </a:r>
            <a:r>
              <a:rPr lang="zh-CN" altLang="en-US" dirty="0"/>
              <a:t>小于等于</a:t>
            </a:r>
            <a:r>
              <a:rPr lang="en-US" altLang="zh-CN" dirty="0"/>
              <a:t>BX</a:t>
            </a:r>
            <a:r>
              <a:rPr lang="zh-CN" altLang="en-US" dirty="0"/>
              <a:t>（作为</a:t>
            </a:r>
            <a:r>
              <a:rPr lang="zh-CN" altLang="en-US" dirty="0">
                <a:solidFill>
                  <a:srgbClr val="FF0000"/>
                </a:solidFill>
              </a:rPr>
              <a:t>有符号数</a:t>
            </a:r>
            <a:r>
              <a:rPr lang="zh-CN" altLang="en-US" dirty="0"/>
              <a:t>），则转移到</a:t>
            </a:r>
            <a:r>
              <a:rPr lang="en-US" altLang="zh-CN" dirty="0"/>
              <a:t>L1</a:t>
            </a:r>
            <a:r>
              <a:rPr lang="zh-CN" altLang="en-US" dirty="0"/>
              <a:t>所在指令执行，否则继续向下执行）</a:t>
            </a:r>
            <a:endParaRPr lang="en-US" altLang="zh-CN" dirty="0"/>
          </a:p>
          <a:p>
            <a:endParaRPr lang="zh-CN" altLang="en-US" dirty="0"/>
          </a:p>
        </p:txBody>
      </p:sp>
    </p:spTree>
    <p:extLst>
      <p:ext uri="{BB962C8B-B14F-4D97-AF65-F5344CB8AC3E}">
        <p14:creationId xmlns:p14="http://schemas.microsoft.com/office/powerpoint/2010/main" val="185141002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fontScale="92500"/>
          </a:bodyPr>
          <a:lstStyle/>
          <a:p>
            <a:r>
              <a:rPr lang="en-US" altLang="zh-CN" dirty="0"/>
              <a:t>CMP</a:t>
            </a:r>
            <a:r>
              <a:rPr lang="zh-CN" altLang="en-US" dirty="0"/>
              <a:t>指令与条件转移语句的结合</a:t>
            </a:r>
            <a:r>
              <a:rPr lang="en-US" altLang="zh-CN" dirty="0"/>
              <a:t>:</a:t>
            </a:r>
            <a:r>
              <a:rPr lang="zh-CN" altLang="en-US" dirty="0"/>
              <a:t>条件转移语句的工作原理，是以上一条指令的执行结果作为条件，从而决定是否转移到标号所在的指令取执行，因此条件转移指令的上一条指令通常是</a:t>
            </a:r>
            <a:r>
              <a:rPr lang="en-US" altLang="zh-CN" dirty="0"/>
              <a:t>CMP</a:t>
            </a:r>
            <a:r>
              <a:rPr lang="zh-CN" altLang="en-US" dirty="0"/>
              <a:t>指令，即比较指令。</a:t>
            </a:r>
            <a:endParaRPr lang="en-US" altLang="zh-CN" dirty="0"/>
          </a:p>
          <a:p>
            <a:pPr>
              <a:buNone/>
            </a:pPr>
            <a:r>
              <a:rPr lang="en-US" altLang="zh-CN" dirty="0"/>
              <a:t>    CMP AX,BX</a:t>
            </a:r>
          </a:p>
          <a:p>
            <a:pPr>
              <a:buNone/>
            </a:pPr>
            <a:r>
              <a:rPr lang="en-US" altLang="zh-CN" dirty="0"/>
              <a:t>     JE L1    (</a:t>
            </a:r>
            <a:r>
              <a:rPr lang="zh-CN" altLang="en-US" dirty="0"/>
              <a:t>如</a:t>
            </a:r>
            <a:r>
              <a:rPr lang="en-US" altLang="zh-CN" dirty="0"/>
              <a:t>AX</a:t>
            </a:r>
            <a:r>
              <a:rPr lang="zh-CN" altLang="en-US" dirty="0"/>
              <a:t>与</a:t>
            </a:r>
            <a:r>
              <a:rPr lang="en-US" altLang="zh-CN" dirty="0"/>
              <a:t>BX</a:t>
            </a:r>
            <a:r>
              <a:rPr lang="zh-CN" altLang="en-US" dirty="0"/>
              <a:t>相等，转移到</a:t>
            </a:r>
            <a:r>
              <a:rPr lang="en-US" altLang="zh-CN" dirty="0"/>
              <a:t>L1</a:t>
            </a:r>
            <a:r>
              <a:rPr lang="zh-CN" altLang="en-US" dirty="0"/>
              <a:t>所在指令执行，否则继续向下执行</a:t>
            </a:r>
            <a:r>
              <a:rPr lang="en-US" altLang="zh-CN" dirty="0"/>
              <a:t>)</a:t>
            </a:r>
          </a:p>
          <a:p>
            <a:pPr>
              <a:buNone/>
            </a:pPr>
            <a:r>
              <a:rPr lang="en-US" altLang="zh-CN" dirty="0"/>
              <a:t>    JA/JAE/JB/JBE L1</a:t>
            </a:r>
            <a:r>
              <a:rPr lang="zh-CN" altLang="en-US" dirty="0"/>
              <a:t>（如</a:t>
            </a:r>
            <a:r>
              <a:rPr lang="en-US" altLang="zh-CN" dirty="0"/>
              <a:t>AX</a:t>
            </a:r>
            <a:r>
              <a:rPr lang="zh-CN" altLang="en-US" dirty="0"/>
              <a:t>大于</a:t>
            </a:r>
            <a:r>
              <a:rPr lang="en-US" altLang="zh-CN" dirty="0"/>
              <a:t>/</a:t>
            </a:r>
            <a:r>
              <a:rPr lang="zh-CN" altLang="en-US" dirty="0"/>
              <a:t>大于等于</a:t>
            </a:r>
            <a:r>
              <a:rPr lang="en-US" altLang="zh-CN" dirty="0"/>
              <a:t>/</a:t>
            </a:r>
            <a:r>
              <a:rPr lang="zh-CN" altLang="en-US" dirty="0"/>
              <a:t>小于</a:t>
            </a:r>
            <a:r>
              <a:rPr lang="en-US" altLang="zh-CN" dirty="0"/>
              <a:t>/</a:t>
            </a:r>
            <a:r>
              <a:rPr lang="zh-CN" altLang="en-US" dirty="0"/>
              <a:t>小于等于</a:t>
            </a:r>
            <a:r>
              <a:rPr lang="en-US" altLang="zh-CN" dirty="0"/>
              <a:t>BX</a:t>
            </a:r>
            <a:r>
              <a:rPr lang="zh-CN" altLang="en-US" dirty="0"/>
              <a:t>（作为</a:t>
            </a:r>
            <a:r>
              <a:rPr lang="zh-CN" altLang="en-US" dirty="0">
                <a:solidFill>
                  <a:srgbClr val="FF0000"/>
                </a:solidFill>
              </a:rPr>
              <a:t>无符号数</a:t>
            </a:r>
            <a:r>
              <a:rPr lang="zh-CN" altLang="en-US" dirty="0"/>
              <a:t>），则转移到</a:t>
            </a:r>
            <a:r>
              <a:rPr lang="en-US" altLang="zh-CN" dirty="0"/>
              <a:t>L1</a:t>
            </a:r>
            <a:r>
              <a:rPr lang="zh-CN" altLang="en-US" dirty="0"/>
              <a:t>所在指令执行，否则继续向下执行）</a:t>
            </a:r>
            <a:endParaRPr lang="en-US" altLang="zh-CN" dirty="0"/>
          </a:p>
          <a:p>
            <a:pPr>
              <a:buNone/>
            </a:pPr>
            <a:r>
              <a:rPr lang="en-US" altLang="zh-CN" dirty="0"/>
              <a:t>    JG/JGE/JL/JLE L1</a:t>
            </a:r>
            <a:r>
              <a:rPr lang="zh-CN" altLang="en-US" dirty="0"/>
              <a:t> （如</a:t>
            </a:r>
            <a:r>
              <a:rPr lang="en-US" altLang="zh-CN" dirty="0"/>
              <a:t>AX</a:t>
            </a:r>
            <a:r>
              <a:rPr lang="zh-CN" altLang="en-US" dirty="0"/>
              <a:t>大于</a:t>
            </a:r>
            <a:r>
              <a:rPr lang="en-US" altLang="zh-CN" dirty="0"/>
              <a:t>/</a:t>
            </a:r>
            <a:r>
              <a:rPr lang="zh-CN" altLang="en-US" dirty="0"/>
              <a:t>大于等于</a:t>
            </a:r>
            <a:r>
              <a:rPr lang="en-US" altLang="zh-CN" dirty="0"/>
              <a:t>/</a:t>
            </a:r>
            <a:r>
              <a:rPr lang="zh-CN" altLang="en-US" dirty="0"/>
              <a:t>小于</a:t>
            </a:r>
            <a:r>
              <a:rPr lang="en-US" altLang="zh-CN" dirty="0"/>
              <a:t>/</a:t>
            </a:r>
            <a:r>
              <a:rPr lang="zh-CN" altLang="en-US" dirty="0"/>
              <a:t>小于等于</a:t>
            </a:r>
            <a:r>
              <a:rPr lang="en-US" altLang="zh-CN" dirty="0"/>
              <a:t>BX</a:t>
            </a:r>
            <a:r>
              <a:rPr lang="zh-CN" altLang="en-US" dirty="0"/>
              <a:t>（作为</a:t>
            </a:r>
            <a:r>
              <a:rPr lang="zh-CN" altLang="en-US" dirty="0">
                <a:solidFill>
                  <a:srgbClr val="FF0000"/>
                </a:solidFill>
              </a:rPr>
              <a:t>有符号数</a:t>
            </a:r>
            <a:r>
              <a:rPr lang="zh-CN" altLang="en-US" dirty="0"/>
              <a:t>），则转移到</a:t>
            </a:r>
            <a:r>
              <a:rPr lang="en-US" altLang="zh-CN" dirty="0"/>
              <a:t>L1</a:t>
            </a:r>
            <a:r>
              <a:rPr lang="zh-CN" altLang="en-US" dirty="0"/>
              <a:t>所在指令执行，否则继续向下执行）</a:t>
            </a:r>
            <a:endParaRPr lang="en-US" altLang="zh-CN" dirty="0"/>
          </a:p>
          <a:p>
            <a:endParaRPr lang="zh-CN" altLang="en-US" dirty="0"/>
          </a:p>
        </p:txBody>
      </p:sp>
    </p:spTree>
    <p:extLst>
      <p:ext uri="{BB962C8B-B14F-4D97-AF65-F5344CB8AC3E}">
        <p14:creationId xmlns:p14="http://schemas.microsoft.com/office/powerpoint/2010/main" val="19153912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r>
              <a:rPr lang="zh-CN" altLang="en-US" dirty="0" smtClean="0"/>
              <a:t>思考题：</a:t>
            </a:r>
            <a:r>
              <a:rPr lang="zh-CN" altLang="en-US" dirty="0"/>
              <a:t>实现以下函数：</a:t>
            </a:r>
            <a:endParaRPr lang="en-US" altLang="zh-CN" dirty="0"/>
          </a:p>
          <a:p>
            <a:pPr>
              <a:buNone/>
            </a:pPr>
            <a:r>
              <a:rPr lang="en-US" altLang="zh-CN" dirty="0"/>
              <a:t>    B = 4*A </a:t>
            </a:r>
            <a:r>
              <a:rPr lang="zh-CN" altLang="en-US" dirty="0"/>
              <a:t>（</a:t>
            </a:r>
            <a:r>
              <a:rPr lang="en-US" altLang="zh-CN" dirty="0"/>
              <a:t>A&gt;=0</a:t>
            </a:r>
            <a:r>
              <a:rPr lang="zh-CN" altLang="en-US" dirty="0"/>
              <a:t>）</a:t>
            </a:r>
            <a:endParaRPr lang="en-US" altLang="zh-CN" dirty="0"/>
          </a:p>
          <a:p>
            <a:pPr>
              <a:buNone/>
            </a:pPr>
            <a:r>
              <a:rPr lang="en-US" altLang="zh-CN" dirty="0"/>
              <a:t>        =  -A    </a:t>
            </a:r>
            <a:r>
              <a:rPr lang="zh-CN" altLang="en-US" dirty="0"/>
              <a:t>（</a:t>
            </a:r>
            <a:r>
              <a:rPr lang="en-US" altLang="zh-CN" dirty="0"/>
              <a:t>A&lt;0</a:t>
            </a:r>
            <a:r>
              <a:rPr lang="zh-CN" altLang="en-US" dirty="0"/>
              <a:t>）</a:t>
            </a:r>
            <a:endParaRPr lang="en-US" altLang="zh-CN" dirty="0"/>
          </a:p>
          <a:p>
            <a:pPr>
              <a:buNone/>
            </a:pPr>
            <a:r>
              <a:rPr lang="zh-CN" altLang="en-US" dirty="0"/>
              <a:t>实现时注意两个要点：</a:t>
            </a:r>
            <a:endParaRPr lang="en-US" altLang="zh-CN" dirty="0"/>
          </a:p>
          <a:p>
            <a:pPr>
              <a:buNone/>
            </a:pPr>
            <a:r>
              <a:rPr lang="en-US" altLang="zh-CN" dirty="0"/>
              <a:t>1.</a:t>
            </a:r>
            <a:r>
              <a:rPr lang="zh-CN" altLang="en-US" dirty="0"/>
              <a:t>比较大小后的条件判断语句应该使用</a:t>
            </a:r>
            <a:r>
              <a:rPr lang="en-US" altLang="zh-CN" dirty="0"/>
              <a:t>JG/JGE/JL/JLE</a:t>
            </a:r>
            <a:r>
              <a:rPr lang="zh-CN" altLang="en-US" dirty="0"/>
              <a:t>而不应该使用</a:t>
            </a:r>
            <a:r>
              <a:rPr lang="en-US" altLang="zh-CN" dirty="0"/>
              <a:t>JAE,JBE</a:t>
            </a:r>
            <a:r>
              <a:rPr lang="zh-CN" altLang="en-US" dirty="0"/>
              <a:t>等（因为只有有符号数才有正数负数之分）</a:t>
            </a:r>
            <a:endParaRPr lang="en-US" altLang="zh-CN" dirty="0"/>
          </a:p>
          <a:p>
            <a:pPr>
              <a:buNone/>
            </a:pPr>
            <a:r>
              <a:rPr lang="en-US" altLang="zh-CN" dirty="0"/>
              <a:t>2. </a:t>
            </a:r>
            <a:r>
              <a:rPr lang="zh-CN" altLang="en-US" dirty="0"/>
              <a:t>求相反数的指令是</a:t>
            </a:r>
            <a:r>
              <a:rPr lang="en-US" altLang="zh-CN" dirty="0"/>
              <a:t>NEG</a:t>
            </a:r>
          </a:p>
          <a:p>
            <a:pPr>
              <a:buNone/>
            </a:pPr>
            <a:r>
              <a:rPr lang="en-US" altLang="zh-CN" dirty="0"/>
              <a:t>3.</a:t>
            </a:r>
            <a:r>
              <a:rPr lang="zh-CN" altLang="en-US" dirty="0"/>
              <a:t>注意两个分支之间应该用一个</a:t>
            </a:r>
            <a:r>
              <a:rPr lang="en-US" altLang="zh-CN" dirty="0"/>
              <a:t>JMP</a:t>
            </a:r>
            <a:r>
              <a:rPr lang="zh-CN" altLang="en-US" dirty="0"/>
              <a:t>指令，防止一个分支执行完后继续向下执行下一个分支。</a:t>
            </a:r>
            <a:endParaRPr lang="en-US" altLang="zh-CN" dirty="0"/>
          </a:p>
          <a:p>
            <a:endParaRPr lang="zh-CN" altLang="en-US" dirty="0"/>
          </a:p>
        </p:txBody>
      </p:sp>
    </p:spTree>
    <p:extLst>
      <p:ext uri="{BB962C8B-B14F-4D97-AF65-F5344CB8AC3E}">
        <p14:creationId xmlns:p14="http://schemas.microsoft.com/office/powerpoint/2010/main" val="31857970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a:bodyPr>
          <a:lstStyle/>
          <a:p>
            <a:pPr>
              <a:buNone/>
            </a:pPr>
            <a:r>
              <a:rPr lang="en-US" altLang="zh-CN" dirty="0"/>
              <a:t>. </a:t>
            </a:r>
            <a:r>
              <a:rPr lang="zh-CN" altLang="en-US" dirty="0"/>
              <a:t>循环程序设计：</a:t>
            </a:r>
            <a:endParaRPr lang="en-US" altLang="zh-CN" dirty="0"/>
          </a:p>
          <a:p>
            <a:pPr>
              <a:buNone/>
            </a:pPr>
            <a:r>
              <a:rPr lang="en-US" altLang="zh-CN" dirty="0"/>
              <a:t>LOOP</a:t>
            </a:r>
            <a:r>
              <a:rPr lang="zh-CN" altLang="en-US" dirty="0"/>
              <a:t>语句基本使用方法：</a:t>
            </a:r>
            <a:endParaRPr lang="en-US" altLang="zh-CN" dirty="0"/>
          </a:p>
          <a:p>
            <a:pPr>
              <a:buNone/>
            </a:pPr>
            <a:r>
              <a:rPr lang="zh-CN" altLang="en-US" dirty="0"/>
              <a:t>标号</a:t>
            </a:r>
            <a:r>
              <a:rPr lang="en-US" altLang="zh-CN" dirty="0"/>
              <a:t>: …………..</a:t>
            </a:r>
          </a:p>
          <a:p>
            <a:pPr>
              <a:buNone/>
            </a:pPr>
            <a:r>
              <a:rPr lang="en-US" altLang="zh-CN" dirty="0"/>
              <a:t>          …………..</a:t>
            </a:r>
          </a:p>
          <a:p>
            <a:pPr>
              <a:buNone/>
            </a:pPr>
            <a:r>
              <a:rPr lang="en-US" altLang="zh-CN" dirty="0"/>
              <a:t>          …………..</a:t>
            </a:r>
          </a:p>
          <a:p>
            <a:pPr>
              <a:buNone/>
            </a:pPr>
            <a:r>
              <a:rPr lang="en-US" altLang="zh-CN" dirty="0"/>
              <a:t>          LOOP </a:t>
            </a:r>
            <a:r>
              <a:rPr lang="zh-CN" altLang="en-US" dirty="0"/>
              <a:t>标号</a:t>
            </a:r>
            <a:endParaRPr lang="en-US" altLang="zh-CN" dirty="0"/>
          </a:p>
          <a:p>
            <a:pPr>
              <a:buNone/>
            </a:pPr>
            <a:r>
              <a:rPr lang="zh-CN" altLang="en-US" dirty="0"/>
              <a:t>程序即在标号与</a:t>
            </a:r>
            <a:r>
              <a:rPr lang="en-US" altLang="zh-CN" dirty="0"/>
              <a:t>LOOP </a:t>
            </a:r>
            <a:r>
              <a:rPr lang="zh-CN" altLang="en-US" dirty="0"/>
              <a:t>语句之间循环，</a:t>
            </a:r>
            <a:r>
              <a:rPr lang="zh-CN" altLang="en-US" dirty="0">
                <a:solidFill>
                  <a:srgbClr val="FF0000"/>
                </a:solidFill>
              </a:rPr>
              <a:t>循环次数为</a:t>
            </a:r>
            <a:r>
              <a:rPr lang="en-US" altLang="zh-CN" dirty="0">
                <a:solidFill>
                  <a:srgbClr val="FF0000"/>
                </a:solidFill>
              </a:rPr>
              <a:t>CX</a:t>
            </a:r>
            <a:r>
              <a:rPr lang="zh-CN" altLang="en-US" dirty="0">
                <a:solidFill>
                  <a:srgbClr val="FF0000"/>
                </a:solidFill>
              </a:rPr>
              <a:t>的值。即</a:t>
            </a:r>
            <a:r>
              <a:rPr lang="en-US" altLang="zh-CN" dirty="0">
                <a:solidFill>
                  <a:srgbClr val="FF0000"/>
                </a:solidFill>
              </a:rPr>
              <a:t>LOOP</a:t>
            </a:r>
            <a:r>
              <a:rPr lang="zh-CN" altLang="en-US" dirty="0">
                <a:solidFill>
                  <a:srgbClr val="FF0000"/>
                </a:solidFill>
              </a:rPr>
              <a:t>每执行一次，</a:t>
            </a:r>
            <a:r>
              <a:rPr lang="en-US" altLang="zh-CN" dirty="0">
                <a:solidFill>
                  <a:srgbClr val="FF0000"/>
                </a:solidFill>
              </a:rPr>
              <a:t>CX</a:t>
            </a:r>
            <a:r>
              <a:rPr lang="zh-CN" altLang="en-US" dirty="0">
                <a:solidFill>
                  <a:srgbClr val="FF0000"/>
                </a:solidFill>
              </a:rPr>
              <a:t>减</a:t>
            </a:r>
            <a:r>
              <a:rPr lang="en-US" altLang="zh-CN" dirty="0">
                <a:solidFill>
                  <a:srgbClr val="FF0000"/>
                </a:solidFill>
              </a:rPr>
              <a:t>1</a:t>
            </a:r>
            <a:r>
              <a:rPr lang="zh-CN" altLang="en-US" dirty="0"/>
              <a:t>，直至</a:t>
            </a:r>
            <a:r>
              <a:rPr lang="en-US" altLang="zh-CN" dirty="0"/>
              <a:t>CX</a:t>
            </a:r>
            <a:r>
              <a:rPr lang="zh-CN" altLang="en-US" dirty="0"/>
              <a:t>为</a:t>
            </a:r>
            <a:r>
              <a:rPr lang="en-US" altLang="zh-CN" dirty="0"/>
              <a:t>0</a:t>
            </a:r>
            <a:r>
              <a:rPr lang="zh-CN" altLang="en-US" dirty="0"/>
              <a:t>时停止循环。故若无特殊必要，不要在循环体中使用</a:t>
            </a:r>
            <a:r>
              <a:rPr lang="en-US" altLang="zh-CN" dirty="0"/>
              <a:t>CX</a:t>
            </a:r>
          </a:p>
          <a:p>
            <a:endParaRPr lang="zh-CN" altLang="en-US" dirty="0"/>
          </a:p>
        </p:txBody>
      </p:sp>
    </p:spTree>
    <p:extLst>
      <p:ext uri="{BB962C8B-B14F-4D97-AF65-F5344CB8AC3E}">
        <p14:creationId xmlns:p14="http://schemas.microsoft.com/office/powerpoint/2010/main" val="258696140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lnSpcReduction="10000"/>
          </a:bodyPr>
          <a:lstStyle/>
          <a:p>
            <a:r>
              <a:rPr lang="zh-CN" altLang="en-US" dirty="0"/>
              <a:t>带条件循环语句</a:t>
            </a:r>
            <a:r>
              <a:rPr lang="en-US" altLang="zh-CN" dirty="0"/>
              <a:t>LOOPE</a:t>
            </a:r>
            <a:r>
              <a:rPr lang="zh-CN" altLang="en-US" dirty="0"/>
              <a:t>：用于找字符串中的某个字符。</a:t>
            </a:r>
            <a:endParaRPr lang="en-US" altLang="zh-CN" dirty="0"/>
          </a:p>
          <a:p>
            <a:pPr>
              <a:buNone/>
            </a:pPr>
            <a:r>
              <a:rPr lang="zh-CN" altLang="en-US" dirty="0"/>
              <a:t>标号：</a:t>
            </a:r>
            <a:r>
              <a:rPr lang="en-US" altLang="zh-CN" dirty="0"/>
              <a:t>……………..</a:t>
            </a:r>
          </a:p>
          <a:p>
            <a:pPr>
              <a:buNone/>
            </a:pPr>
            <a:r>
              <a:rPr lang="en-US" altLang="zh-CN" dirty="0"/>
              <a:t>            ………………</a:t>
            </a:r>
          </a:p>
          <a:p>
            <a:pPr>
              <a:buNone/>
            </a:pPr>
            <a:r>
              <a:rPr lang="en-US" altLang="zh-CN" dirty="0"/>
              <a:t>            CMP ……….</a:t>
            </a:r>
          </a:p>
          <a:p>
            <a:pPr>
              <a:buNone/>
            </a:pPr>
            <a:r>
              <a:rPr lang="en-US" altLang="zh-CN" dirty="0"/>
              <a:t>            LOOPE </a:t>
            </a:r>
            <a:r>
              <a:rPr lang="zh-CN" altLang="en-US" dirty="0"/>
              <a:t>标号</a:t>
            </a:r>
            <a:endParaRPr lang="en-US" altLang="zh-CN" dirty="0"/>
          </a:p>
          <a:p>
            <a:pPr>
              <a:buNone/>
            </a:pPr>
            <a:r>
              <a:rPr lang="zh-CN" altLang="en-US" dirty="0"/>
              <a:t>循环条件</a:t>
            </a:r>
            <a:r>
              <a:rPr lang="en-US" altLang="zh-CN" dirty="0"/>
              <a:t>: 1. CX</a:t>
            </a:r>
            <a:r>
              <a:rPr lang="zh-CN" altLang="en-US" dirty="0"/>
              <a:t>不为</a:t>
            </a:r>
            <a:r>
              <a:rPr lang="en-US" altLang="zh-CN" dirty="0"/>
              <a:t>0</a:t>
            </a:r>
            <a:r>
              <a:rPr lang="zh-CN" altLang="en-US" dirty="0"/>
              <a:t>，且每循环一次</a:t>
            </a:r>
            <a:r>
              <a:rPr lang="en-US" altLang="zh-CN" dirty="0"/>
              <a:t>CX</a:t>
            </a:r>
            <a:r>
              <a:rPr lang="zh-CN" altLang="en-US" dirty="0"/>
              <a:t>减</a:t>
            </a:r>
            <a:r>
              <a:rPr lang="en-US" altLang="zh-CN" dirty="0"/>
              <a:t>1</a:t>
            </a:r>
            <a:r>
              <a:rPr lang="zh-CN" altLang="en-US" dirty="0"/>
              <a:t>，与</a:t>
            </a:r>
            <a:r>
              <a:rPr lang="en-US" altLang="zh-CN" dirty="0"/>
              <a:t>LOOP</a:t>
            </a:r>
            <a:r>
              <a:rPr lang="zh-CN" altLang="en-US" dirty="0"/>
              <a:t>相同</a:t>
            </a:r>
            <a:endParaRPr lang="en-US" altLang="zh-CN" dirty="0"/>
          </a:p>
          <a:p>
            <a:pPr>
              <a:buNone/>
            </a:pPr>
            <a:r>
              <a:rPr lang="en-US" altLang="zh-CN" dirty="0"/>
              <a:t>                  2. CMP</a:t>
            </a:r>
            <a:r>
              <a:rPr lang="zh-CN" altLang="en-US" dirty="0"/>
              <a:t>语句执行的结果为相等</a:t>
            </a:r>
            <a:endParaRPr lang="en-US" altLang="zh-CN" dirty="0"/>
          </a:p>
          <a:p>
            <a:pPr>
              <a:buNone/>
            </a:pPr>
            <a:r>
              <a:rPr lang="zh-CN" altLang="en-US" dirty="0"/>
              <a:t>思考题：例</a:t>
            </a:r>
            <a:r>
              <a:rPr lang="en-US" altLang="zh-CN" dirty="0"/>
              <a:t>5-8 P223-224</a:t>
            </a:r>
            <a:r>
              <a:rPr lang="zh-CN" altLang="en-US" dirty="0"/>
              <a:t>，请掌握通过</a:t>
            </a:r>
            <a:r>
              <a:rPr lang="en-US" altLang="zh-CN" dirty="0"/>
              <a:t>LOOPE</a:t>
            </a:r>
            <a:r>
              <a:rPr lang="zh-CN" altLang="en-US" dirty="0"/>
              <a:t>在字符串中寻找不满足条件的字符的用法，注意如何使用寄存器寻址实现扫描字符串</a:t>
            </a:r>
          </a:p>
        </p:txBody>
      </p:sp>
    </p:spTree>
    <p:extLst>
      <p:ext uri="{BB962C8B-B14F-4D97-AF65-F5344CB8AC3E}">
        <p14:creationId xmlns:p14="http://schemas.microsoft.com/office/powerpoint/2010/main" val="36489015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lnSpcReduction="10000"/>
          </a:bodyPr>
          <a:lstStyle/>
          <a:p>
            <a:r>
              <a:rPr lang="zh-CN" altLang="en-US" dirty="0"/>
              <a:t>带条件循环语句</a:t>
            </a:r>
            <a:r>
              <a:rPr lang="en-US" altLang="zh-CN" dirty="0"/>
              <a:t>LOOPE</a:t>
            </a:r>
            <a:r>
              <a:rPr lang="zh-CN" altLang="en-US" dirty="0"/>
              <a:t>：用于找字符串中的某个字符。</a:t>
            </a:r>
            <a:endParaRPr lang="en-US" altLang="zh-CN" dirty="0"/>
          </a:p>
          <a:p>
            <a:pPr>
              <a:buNone/>
            </a:pPr>
            <a:r>
              <a:rPr lang="zh-CN" altLang="en-US" dirty="0"/>
              <a:t>标号：</a:t>
            </a:r>
            <a:r>
              <a:rPr lang="en-US" altLang="zh-CN" dirty="0"/>
              <a:t>……………..</a:t>
            </a:r>
          </a:p>
          <a:p>
            <a:pPr>
              <a:buNone/>
            </a:pPr>
            <a:r>
              <a:rPr lang="en-US" altLang="zh-CN" dirty="0"/>
              <a:t>            ………………</a:t>
            </a:r>
          </a:p>
          <a:p>
            <a:pPr>
              <a:buNone/>
            </a:pPr>
            <a:r>
              <a:rPr lang="en-US" altLang="zh-CN" dirty="0"/>
              <a:t>            CMP ……….</a:t>
            </a:r>
          </a:p>
          <a:p>
            <a:pPr>
              <a:buNone/>
            </a:pPr>
            <a:r>
              <a:rPr lang="en-US" altLang="zh-CN" dirty="0"/>
              <a:t>            LOOPE </a:t>
            </a:r>
            <a:r>
              <a:rPr lang="zh-CN" altLang="en-US" dirty="0"/>
              <a:t>标号</a:t>
            </a:r>
            <a:endParaRPr lang="en-US" altLang="zh-CN" dirty="0"/>
          </a:p>
          <a:p>
            <a:pPr>
              <a:buNone/>
            </a:pPr>
            <a:r>
              <a:rPr lang="zh-CN" altLang="en-US" dirty="0"/>
              <a:t>循环条件</a:t>
            </a:r>
            <a:r>
              <a:rPr lang="en-US" altLang="zh-CN" dirty="0"/>
              <a:t>: 1. CX</a:t>
            </a:r>
            <a:r>
              <a:rPr lang="zh-CN" altLang="en-US" dirty="0"/>
              <a:t>不为</a:t>
            </a:r>
            <a:r>
              <a:rPr lang="en-US" altLang="zh-CN" dirty="0"/>
              <a:t>0</a:t>
            </a:r>
            <a:r>
              <a:rPr lang="zh-CN" altLang="en-US" dirty="0"/>
              <a:t>，且每循环一次</a:t>
            </a:r>
            <a:r>
              <a:rPr lang="en-US" altLang="zh-CN" dirty="0"/>
              <a:t>CX</a:t>
            </a:r>
            <a:r>
              <a:rPr lang="zh-CN" altLang="en-US" dirty="0"/>
              <a:t>减</a:t>
            </a:r>
            <a:r>
              <a:rPr lang="en-US" altLang="zh-CN" dirty="0"/>
              <a:t>1</a:t>
            </a:r>
            <a:r>
              <a:rPr lang="zh-CN" altLang="en-US" dirty="0"/>
              <a:t>，与</a:t>
            </a:r>
            <a:r>
              <a:rPr lang="en-US" altLang="zh-CN" dirty="0"/>
              <a:t>LOOP</a:t>
            </a:r>
            <a:r>
              <a:rPr lang="zh-CN" altLang="en-US" dirty="0"/>
              <a:t>相同</a:t>
            </a:r>
            <a:endParaRPr lang="en-US" altLang="zh-CN" dirty="0"/>
          </a:p>
          <a:p>
            <a:pPr>
              <a:buNone/>
            </a:pPr>
            <a:r>
              <a:rPr lang="en-US" altLang="zh-CN" dirty="0"/>
              <a:t>                  2. CMP</a:t>
            </a:r>
            <a:r>
              <a:rPr lang="zh-CN" altLang="en-US" dirty="0"/>
              <a:t>语句执行的结果为相等</a:t>
            </a:r>
            <a:endParaRPr lang="en-US" altLang="zh-CN" dirty="0"/>
          </a:p>
          <a:p>
            <a:pPr>
              <a:buNone/>
            </a:pPr>
            <a:r>
              <a:rPr lang="zh-CN" altLang="en-US" dirty="0"/>
              <a:t>思考题：例</a:t>
            </a:r>
            <a:r>
              <a:rPr lang="en-US" altLang="zh-CN" dirty="0"/>
              <a:t>5-8 P223-224</a:t>
            </a:r>
            <a:r>
              <a:rPr lang="zh-CN" altLang="en-US" dirty="0"/>
              <a:t>，请掌握通过</a:t>
            </a:r>
            <a:r>
              <a:rPr lang="en-US" altLang="zh-CN" dirty="0"/>
              <a:t>LOOPE</a:t>
            </a:r>
            <a:r>
              <a:rPr lang="zh-CN" altLang="en-US" dirty="0"/>
              <a:t>在字符串中寻找不满足条件的字符的用法，注意如何使用寄存器寻址实现扫描字符串</a:t>
            </a:r>
          </a:p>
        </p:txBody>
      </p:sp>
    </p:spTree>
    <p:extLst>
      <p:ext uri="{BB962C8B-B14F-4D97-AF65-F5344CB8AC3E}">
        <p14:creationId xmlns:p14="http://schemas.microsoft.com/office/powerpoint/2010/main" val="19418495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第五章一些技术细节（看 完 这 些 还 是 要 看 书！）</a:t>
            </a:r>
          </a:p>
        </p:txBody>
      </p:sp>
      <p:sp>
        <p:nvSpPr>
          <p:cNvPr id="3" name="内容占位符 2"/>
          <p:cNvSpPr>
            <a:spLocks noGrp="1"/>
          </p:cNvSpPr>
          <p:nvPr>
            <p:ph idx="1"/>
          </p:nvPr>
        </p:nvSpPr>
        <p:spPr/>
        <p:txBody>
          <a:bodyPr>
            <a:normAutofit lnSpcReduction="10000"/>
          </a:bodyPr>
          <a:lstStyle/>
          <a:p>
            <a:r>
              <a:rPr lang="zh-CN" altLang="en-US" dirty="0"/>
              <a:t>带条件循环语句</a:t>
            </a:r>
            <a:r>
              <a:rPr lang="en-US" altLang="zh-CN" dirty="0"/>
              <a:t>LOOPNE</a:t>
            </a:r>
            <a:r>
              <a:rPr lang="zh-CN" altLang="en-US" dirty="0"/>
              <a:t>：用于找字符串中的某个字符。</a:t>
            </a:r>
            <a:endParaRPr lang="en-US" altLang="zh-CN" dirty="0"/>
          </a:p>
          <a:p>
            <a:pPr>
              <a:buNone/>
            </a:pPr>
            <a:r>
              <a:rPr lang="zh-CN" altLang="en-US" dirty="0"/>
              <a:t>标号：</a:t>
            </a:r>
            <a:r>
              <a:rPr lang="en-US" altLang="zh-CN" dirty="0"/>
              <a:t>……………..</a:t>
            </a:r>
          </a:p>
          <a:p>
            <a:pPr>
              <a:buNone/>
            </a:pPr>
            <a:r>
              <a:rPr lang="en-US" altLang="zh-CN" dirty="0"/>
              <a:t>            ………………</a:t>
            </a:r>
          </a:p>
          <a:p>
            <a:pPr>
              <a:buNone/>
            </a:pPr>
            <a:r>
              <a:rPr lang="en-US" altLang="zh-CN" dirty="0"/>
              <a:t>            CMP ……….</a:t>
            </a:r>
          </a:p>
          <a:p>
            <a:pPr>
              <a:buNone/>
            </a:pPr>
            <a:r>
              <a:rPr lang="en-US" altLang="zh-CN" dirty="0"/>
              <a:t>            LOOPNE </a:t>
            </a:r>
            <a:r>
              <a:rPr lang="zh-CN" altLang="en-US" dirty="0"/>
              <a:t>标号</a:t>
            </a:r>
            <a:endParaRPr lang="en-US" altLang="zh-CN" dirty="0"/>
          </a:p>
          <a:p>
            <a:pPr>
              <a:buNone/>
            </a:pPr>
            <a:r>
              <a:rPr lang="zh-CN" altLang="en-US" dirty="0"/>
              <a:t>循环条件</a:t>
            </a:r>
            <a:r>
              <a:rPr lang="en-US" altLang="zh-CN" dirty="0"/>
              <a:t>: 1. CX</a:t>
            </a:r>
            <a:r>
              <a:rPr lang="zh-CN" altLang="en-US" dirty="0"/>
              <a:t>不为</a:t>
            </a:r>
            <a:r>
              <a:rPr lang="en-US" altLang="zh-CN" dirty="0"/>
              <a:t>0</a:t>
            </a:r>
            <a:r>
              <a:rPr lang="zh-CN" altLang="en-US" dirty="0"/>
              <a:t>，且每循环一次</a:t>
            </a:r>
            <a:r>
              <a:rPr lang="en-US" altLang="zh-CN" dirty="0"/>
              <a:t>CX</a:t>
            </a:r>
            <a:r>
              <a:rPr lang="zh-CN" altLang="en-US" dirty="0"/>
              <a:t>减</a:t>
            </a:r>
            <a:r>
              <a:rPr lang="en-US" altLang="zh-CN" dirty="0"/>
              <a:t>1</a:t>
            </a:r>
            <a:r>
              <a:rPr lang="zh-CN" altLang="en-US" dirty="0"/>
              <a:t>，与</a:t>
            </a:r>
            <a:r>
              <a:rPr lang="en-US" altLang="zh-CN" dirty="0"/>
              <a:t>LOOP</a:t>
            </a:r>
            <a:r>
              <a:rPr lang="zh-CN" altLang="en-US" dirty="0"/>
              <a:t>相同</a:t>
            </a:r>
            <a:endParaRPr lang="en-US" altLang="zh-CN" dirty="0"/>
          </a:p>
          <a:p>
            <a:pPr>
              <a:buNone/>
            </a:pPr>
            <a:r>
              <a:rPr lang="en-US" altLang="zh-CN" dirty="0"/>
              <a:t>                  2. CMP</a:t>
            </a:r>
            <a:r>
              <a:rPr lang="zh-CN" altLang="en-US" dirty="0"/>
              <a:t>语句执行的结果为</a:t>
            </a:r>
            <a:r>
              <a:rPr lang="zh-CN" altLang="en-US" dirty="0">
                <a:solidFill>
                  <a:srgbClr val="FF0000"/>
                </a:solidFill>
              </a:rPr>
              <a:t>不</a:t>
            </a:r>
            <a:r>
              <a:rPr lang="zh-CN" altLang="en-US" dirty="0"/>
              <a:t>相等</a:t>
            </a:r>
            <a:endParaRPr lang="en-US" altLang="zh-CN" dirty="0"/>
          </a:p>
          <a:p>
            <a:pPr>
              <a:buNone/>
            </a:pPr>
            <a:r>
              <a:rPr lang="zh-CN" altLang="en-US" dirty="0"/>
              <a:t>思考题：请思考如何将例</a:t>
            </a:r>
            <a:r>
              <a:rPr lang="en-US" altLang="zh-CN" dirty="0"/>
              <a:t>5-8</a:t>
            </a:r>
            <a:r>
              <a:rPr lang="zh-CN" altLang="en-US" dirty="0"/>
              <a:t>改为寻找一字符串中的第一个空格并将其偏移地址送入</a:t>
            </a:r>
            <a:r>
              <a:rPr lang="en-US" altLang="zh-CN" dirty="0"/>
              <a:t>index</a:t>
            </a:r>
          </a:p>
        </p:txBody>
      </p:sp>
    </p:spTree>
    <p:extLst>
      <p:ext uri="{BB962C8B-B14F-4D97-AF65-F5344CB8AC3E}">
        <p14:creationId xmlns:p14="http://schemas.microsoft.com/office/powerpoint/2010/main" val="265969092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第六章</a:t>
            </a:r>
            <a:endParaRPr lang="zh-CN" altLang="en-US" dirty="0"/>
          </a:p>
        </p:txBody>
      </p:sp>
      <p:sp>
        <p:nvSpPr>
          <p:cNvPr id="3" name="内容占位符 2"/>
          <p:cNvSpPr>
            <a:spLocks noGrp="1"/>
          </p:cNvSpPr>
          <p:nvPr>
            <p:ph idx="1"/>
          </p:nvPr>
        </p:nvSpPr>
        <p:spPr/>
        <p:txBody>
          <a:bodyPr/>
          <a:lstStyle/>
          <a:p>
            <a:r>
              <a:rPr lang="zh-CN" altLang="en-US" dirty="0" smtClean="0">
                <a:solidFill>
                  <a:srgbClr val="FF0000"/>
                </a:solidFill>
              </a:rPr>
              <a:t>多级存储架构不同层次存储器的特点</a:t>
            </a:r>
            <a:r>
              <a:rPr lang="en-US" altLang="zh-CN" dirty="0" smtClean="0"/>
              <a:t>P253</a:t>
            </a:r>
          </a:p>
          <a:p>
            <a:r>
              <a:rPr lang="zh-CN" altLang="en-US" dirty="0" smtClean="0">
                <a:solidFill>
                  <a:srgbClr val="FF0000"/>
                </a:solidFill>
              </a:rPr>
              <a:t>存储器的位扩展与字数扩展</a:t>
            </a:r>
            <a:r>
              <a:rPr lang="en-US" altLang="zh-CN" dirty="0" smtClean="0"/>
              <a:t>P264</a:t>
            </a:r>
          </a:p>
          <a:p>
            <a:r>
              <a:rPr lang="en-US" altLang="zh-CN" dirty="0" smtClean="0"/>
              <a:t>Cache</a:t>
            </a:r>
            <a:r>
              <a:rPr lang="zh-CN" altLang="en-US" dirty="0" smtClean="0"/>
              <a:t>的工作原理（</a:t>
            </a:r>
            <a:r>
              <a:rPr lang="zh-CN" altLang="en-US" dirty="0" smtClean="0">
                <a:solidFill>
                  <a:srgbClr val="FF0000"/>
                </a:solidFill>
              </a:rPr>
              <a:t>局部性</a:t>
            </a:r>
            <a:r>
              <a:rPr lang="zh-CN" altLang="en-US" dirty="0" smtClean="0"/>
              <a:t>）</a:t>
            </a:r>
            <a:r>
              <a:rPr lang="en-US" altLang="zh-CN" dirty="0" smtClean="0"/>
              <a:t>P276-277</a:t>
            </a:r>
          </a:p>
          <a:p>
            <a:r>
              <a:rPr lang="en-US" altLang="zh-CN" dirty="0" smtClean="0">
                <a:solidFill>
                  <a:srgbClr val="FF0000"/>
                </a:solidFill>
              </a:rPr>
              <a:t>Cache</a:t>
            </a:r>
            <a:r>
              <a:rPr lang="zh-CN" altLang="en-US" dirty="0" smtClean="0">
                <a:solidFill>
                  <a:srgbClr val="FF0000"/>
                </a:solidFill>
              </a:rPr>
              <a:t>三种映像方式 </a:t>
            </a:r>
            <a:r>
              <a:rPr lang="en-US" altLang="zh-CN" dirty="0" smtClean="0">
                <a:solidFill>
                  <a:srgbClr val="FF0000"/>
                </a:solidFill>
              </a:rPr>
              <a:t>P277-279</a:t>
            </a:r>
          </a:p>
          <a:p>
            <a:r>
              <a:rPr lang="zh-CN" altLang="en-US" dirty="0">
                <a:solidFill>
                  <a:srgbClr val="FF0000"/>
                </a:solidFill>
              </a:rPr>
              <a:t>替换</a:t>
            </a:r>
            <a:r>
              <a:rPr lang="zh-CN" altLang="en-US" dirty="0" smtClean="0">
                <a:solidFill>
                  <a:srgbClr val="FF0000"/>
                </a:solidFill>
              </a:rPr>
              <a:t>算法 </a:t>
            </a:r>
            <a:r>
              <a:rPr lang="en-US" altLang="zh-CN" dirty="0" smtClean="0">
                <a:solidFill>
                  <a:srgbClr val="FF0000"/>
                </a:solidFill>
              </a:rPr>
              <a:t>P280</a:t>
            </a:r>
          </a:p>
          <a:p>
            <a:r>
              <a:rPr lang="en-US" altLang="zh-CN" dirty="0" smtClean="0">
                <a:solidFill>
                  <a:srgbClr val="FF0000"/>
                </a:solidFill>
              </a:rPr>
              <a:t>Cache</a:t>
            </a:r>
            <a:r>
              <a:rPr lang="zh-CN" altLang="en-US" dirty="0" smtClean="0">
                <a:solidFill>
                  <a:srgbClr val="FF0000"/>
                </a:solidFill>
              </a:rPr>
              <a:t>读写过程，写回与写直达</a:t>
            </a:r>
            <a:r>
              <a:rPr lang="en-US" altLang="zh-CN" dirty="0" smtClean="0">
                <a:solidFill>
                  <a:srgbClr val="FF0000"/>
                </a:solidFill>
              </a:rPr>
              <a:t>P280</a:t>
            </a:r>
          </a:p>
          <a:p>
            <a:r>
              <a:rPr lang="zh-CN" altLang="en-US" dirty="0" smtClean="0"/>
              <a:t>虚拟存储器的工作原理</a:t>
            </a:r>
            <a:r>
              <a:rPr lang="en-US" altLang="zh-CN" dirty="0" smtClean="0"/>
              <a:t>P299</a:t>
            </a:r>
          </a:p>
          <a:p>
            <a:r>
              <a:rPr lang="zh-CN" altLang="en-US" dirty="0">
                <a:solidFill>
                  <a:srgbClr val="FF0000"/>
                </a:solidFill>
              </a:rPr>
              <a:t>三</a:t>
            </a:r>
            <a:r>
              <a:rPr lang="zh-CN" altLang="en-US" dirty="0" smtClean="0">
                <a:solidFill>
                  <a:srgbClr val="FF0000"/>
                </a:solidFill>
              </a:rPr>
              <a:t>种虚拟存储器的特点</a:t>
            </a:r>
            <a:r>
              <a:rPr lang="en-US" altLang="zh-CN" dirty="0" smtClean="0">
                <a:solidFill>
                  <a:srgbClr val="FF0000"/>
                </a:solidFill>
              </a:rPr>
              <a:t>P299-301</a:t>
            </a:r>
            <a:endParaRPr lang="zh-CN" altLang="en-US" dirty="0">
              <a:solidFill>
                <a:srgbClr val="FF0000"/>
              </a:solidFill>
            </a:endParaRPr>
          </a:p>
        </p:txBody>
      </p:sp>
    </p:spTree>
    <p:extLst>
      <p:ext uri="{BB962C8B-B14F-4D97-AF65-F5344CB8AC3E}">
        <p14:creationId xmlns:p14="http://schemas.microsoft.com/office/powerpoint/2010/main" val="30095347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第七章</a:t>
            </a:r>
            <a:endParaRPr lang="zh-CN" altLang="en-US" dirty="0"/>
          </a:p>
        </p:txBody>
      </p:sp>
      <p:sp>
        <p:nvSpPr>
          <p:cNvPr id="3" name="内容占位符 2"/>
          <p:cNvSpPr>
            <a:spLocks noGrp="1"/>
          </p:cNvSpPr>
          <p:nvPr>
            <p:ph idx="1"/>
          </p:nvPr>
        </p:nvSpPr>
        <p:spPr>
          <a:xfrm>
            <a:off x="838200" y="1603248"/>
            <a:ext cx="10515600" cy="4573715"/>
          </a:xfrm>
        </p:spPr>
        <p:txBody>
          <a:bodyPr/>
          <a:lstStyle/>
          <a:p>
            <a:r>
              <a:rPr lang="en-US" altLang="zh-CN" dirty="0" smtClean="0">
                <a:solidFill>
                  <a:srgbClr val="FF0000"/>
                </a:solidFill>
              </a:rPr>
              <a:t>I/O</a:t>
            </a:r>
            <a:r>
              <a:rPr lang="zh-CN" altLang="en-US" dirty="0" smtClean="0">
                <a:solidFill>
                  <a:srgbClr val="FF0000"/>
                </a:solidFill>
              </a:rPr>
              <a:t>接口的部分功能</a:t>
            </a:r>
            <a:r>
              <a:rPr lang="en-US" altLang="zh-CN" dirty="0" smtClean="0"/>
              <a:t>P308-309</a:t>
            </a:r>
          </a:p>
          <a:p>
            <a:r>
              <a:rPr lang="zh-CN" altLang="en-US" dirty="0" smtClean="0">
                <a:solidFill>
                  <a:srgbClr val="FF0000"/>
                </a:solidFill>
              </a:rPr>
              <a:t>程序查询方式工作原理</a:t>
            </a:r>
            <a:r>
              <a:rPr lang="en-US" altLang="zh-CN" dirty="0" smtClean="0">
                <a:solidFill>
                  <a:srgbClr val="FF0000"/>
                </a:solidFill>
              </a:rPr>
              <a:t>P314 </a:t>
            </a:r>
            <a:r>
              <a:rPr lang="zh-CN" altLang="en-US" dirty="0" smtClean="0">
                <a:solidFill>
                  <a:srgbClr val="FF0000"/>
                </a:solidFill>
              </a:rPr>
              <a:t>缺陷</a:t>
            </a:r>
            <a:r>
              <a:rPr lang="en-US" altLang="zh-CN" dirty="0" smtClean="0">
                <a:solidFill>
                  <a:srgbClr val="FF0000"/>
                </a:solidFill>
              </a:rPr>
              <a:t>P316</a:t>
            </a:r>
          </a:p>
          <a:p>
            <a:r>
              <a:rPr lang="zh-CN" altLang="en-US" dirty="0" smtClean="0">
                <a:solidFill>
                  <a:srgbClr val="FF0000"/>
                </a:solidFill>
              </a:rPr>
              <a:t>向量中断法</a:t>
            </a:r>
            <a:r>
              <a:rPr lang="zh-CN" altLang="en-US" dirty="0" smtClean="0"/>
              <a:t>，中断入口地址生成 </a:t>
            </a:r>
            <a:r>
              <a:rPr lang="en-US" altLang="zh-CN" dirty="0" smtClean="0"/>
              <a:t>P320-321</a:t>
            </a:r>
          </a:p>
          <a:p>
            <a:r>
              <a:rPr lang="zh-CN" altLang="en-US" dirty="0" smtClean="0">
                <a:solidFill>
                  <a:srgbClr val="FF0000"/>
                </a:solidFill>
              </a:rPr>
              <a:t>中断的过程 </a:t>
            </a:r>
            <a:r>
              <a:rPr lang="en-US" altLang="zh-CN" dirty="0" smtClean="0">
                <a:solidFill>
                  <a:srgbClr val="FF0000"/>
                </a:solidFill>
              </a:rPr>
              <a:t>P322-323</a:t>
            </a:r>
            <a:r>
              <a:rPr lang="zh-CN" altLang="en-US" dirty="0" smtClean="0">
                <a:solidFill>
                  <a:srgbClr val="FF0000"/>
                </a:solidFill>
              </a:rPr>
              <a:t>，重点是中断响应与中断返回的具体工作</a:t>
            </a:r>
            <a:endParaRPr lang="en-US" altLang="zh-CN" dirty="0" smtClean="0">
              <a:solidFill>
                <a:srgbClr val="FF0000"/>
              </a:solidFill>
            </a:endParaRPr>
          </a:p>
          <a:p>
            <a:r>
              <a:rPr lang="en-US" altLang="zh-CN" dirty="0" smtClean="0">
                <a:solidFill>
                  <a:srgbClr val="FF0000"/>
                </a:solidFill>
              </a:rPr>
              <a:t>DMA</a:t>
            </a:r>
            <a:r>
              <a:rPr lang="zh-CN" altLang="en-US" dirty="0" smtClean="0">
                <a:solidFill>
                  <a:srgbClr val="FF0000"/>
                </a:solidFill>
              </a:rPr>
              <a:t>方式 </a:t>
            </a:r>
            <a:r>
              <a:rPr lang="en-US" altLang="zh-CN" dirty="0" smtClean="0">
                <a:solidFill>
                  <a:srgbClr val="FF0000"/>
                </a:solidFill>
              </a:rPr>
              <a:t>P335</a:t>
            </a:r>
          </a:p>
          <a:p>
            <a:r>
              <a:rPr lang="zh-CN" altLang="en-US" dirty="0" smtClean="0">
                <a:solidFill>
                  <a:srgbClr val="FF0000"/>
                </a:solidFill>
              </a:rPr>
              <a:t>通道与</a:t>
            </a:r>
            <a:r>
              <a:rPr lang="en-US" altLang="zh-CN" dirty="0" smtClean="0">
                <a:solidFill>
                  <a:srgbClr val="FF0000"/>
                </a:solidFill>
              </a:rPr>
              <a:t>IOP</a:t>
            </a:r>
            <a:r>
              <a:rPr lang="zh-CN" altLang="en-US" dirty="0" smtClean="0">
                <a:solidFill>
                  <a:srgbClr val="FF0000"/>
                </a:solidFill>
              </a:rPr>
              <a:t>的概念</a:t>
            </a:r>
            <a:r>
              <a:rPr lang="en-US" altLang="zh-CN" dirty="0" smtClean="0">
                <a:solidFill>
                  <a:srgbClr val="FF0000"/>
                </a:solidFill>
              </a:rPr>
              <a:t>P347-348</a:t>
            </a:r>
          </a:p>
          <a:p>
            <a:endParaRPr lang="en-US" altLang="zh-CN" dirty="0" smtClean="0"/>
          </a:p>
          <a:p>
            <a:endParaRPr lang="en-US" altLang="zh-CN" dirty="0" smtClean="0"/>
          </a:p>
        </p:txBody>
      </p:sp>
    </p:spTree>
    <p:extLst>
      <p:ext uri="{BB962C8B-B14F-4D97-AF65-F5344CB8AC3E}">
        <p14:creationId xmlns:p14="http://schemas.microsoft.com/office/powerpoint/2010/main" val="142920234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547</TotalTime>
  <Words>4648</Words>
  <Application>Microsoft Office PowerPoint</Application>
  <PresentationFormat>宽屏</PresentationFormat>
  <Paragraphs>268</Paragraphs>
  <Slides>33</Slides>
  <Notes>0</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33</vt:i4>
      </vt:variant>
    </vt:vector>
  </HeadingPairs>
  <TitlesOfParts>
    <vt:vector size="38" baseType="lpstr">
      <vt:lpstr>宋体</vt:lpstr>
      <vt:lpstr>Arial</vt:lpstr>
      <vt:lpstr>Calibri</vt:lpstr>
      <vt:lpstr>Calibri Light</vt:lpstr>
      <vt:lpstr>Office 主题</vt:lpstr>
      <vt:lpstr>计算机期末复习提纲</vt:lpstr>
      <vt:lpstr>第一章</vt:lpstr>
      <vt:lpstr>第一章需要与后面章节联系的点</vt:lpstr>
      <vt:lpstr>第二章</vt:lpstr>
      <vt:lpstr>第二章一些技术细节（看 完 这 些 还 是 要 看 书！）</vt:lpstr>
      <vt:lpstr>第二章一些技术细节（看 完 这 些 还 是 要 看 书！）</vt:lpstr>
      <vt:lpstr>第二章一些技术细节（看 完 这 些 还 是 要 看 书！）</vt:lpstr>
      <vt:lpstr>第三章</vt:lpstr>
      <vt:lpstr>第三章一些技术细节（看 完 这 些 还 是 要 看 书！）</vt:lpstr>
      <vt:lpstr>第四章</vt:lpstr>
      <vt:lpstr>第四章</vt:lpstr>
      <vt:lpstr>第四章一些技术细节（看 完 这 些 还 是 要 看 书！）</vt:lpstr>
      <vt:lpstr>第四章一些技术细节（看 完 这 些 还 是 要 看 书！）</vt:lpstr>
      <vt:lpstr>第四章一些技术细节（看 完 这 些 还 是 要 看 书！）</vt:lpstr>
      <vt:lpstr>第四章一些技术细节（看 完 这 些 还 是 要 看 书！）</vt:lpstr>
      <vt:lpstr>第五章</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第五章一些技术细节（看 完 这 些 还 是 要 看 书！）</vt:lpstr>
      <vt:lpstr>第六章</vt:lpstr>
      <vt:lpstr>第七章</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计算机期末复习提纲</dc:title>
  <dc:creator>Windows 用户</dc:creator>
  <cp:lastModifiedBy>Kaimeng Chen</cp:lastModifiedBy>
  <cp:revision>79</cp:revision>
  <dcterms:created xsi:type="dcterms:W3CDTF">2022-12-07T08:00:35Z</dcterms:created>
  <dcterms:modified xsi:type="dcterms:W3CDTF">2023-04-29T13:30:15Z</dcterms:modified>
</cp:coreProperties>
</file>